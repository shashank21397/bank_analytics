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61" r:id="rId4"/>
    <p:sldId id="262" r:id="rId5"/>
    <p:sldId id="275" r:id="rId6"/>
    <p:sldId id="276" r:id="rId7"/>
    <p:sldId id="277" r:id="rId8"/>
    <p:sldId id="260" r:id="rId9"/>
    <p:sldId id="269" r:id="rId10"/>
    <p:sldId id="270" r:id="rId11"/>
    <p:sldId id="271" r:id="rId12"/>
    <p:sldId id="272" r:id="rId13"/>
    <p:sldId id="278" r:id="rId14"/>
    <p:sldId id="279" r:id="rId15"/>
    <p:sldId id="280" r:id="rId16"/>
    <p:sldId id="27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83A"/>
    <a:srgbClr val="032838"/>
    <a:srgbClr val="102D48"/>
    <a:srgbClr val="2A7E7C"/>
    <a:srgbClr val="158493"/>
    <a:srgbClr val="0D3B4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shank A U" userId="4fcdf2cdb9badf55" providerId="LiveId" clId="{6C597875-81B4-4B56-B163-3F7BA8EDBFFA}"/>
    <pc:docChg chg="modSld">
      <pc:chgData name="Shashank A U" userId="4fcdf2cdb9badf55" providerId="LiveId" clId="{6C597875-81B4-4B56-B163-3F7BA8EDBFFA}" dt="2025-12-29T14:57:45.777" v="2"/>
      <pc:docMkLst>
        <pc:docMk/>
      </pc:docMkLst>
      <pc:sldChg chg="delSp modSp mod">
        <pc:chgData name="Shashank A U" userId="4fcdf2cdb9badf55" providerId="LiveId" clId="{6C597875-81B4-4B56-B163-3F7BA8EDBFFA}" dt="2025-12-29T14:57:45.777" v="2"/>
        <pc:sldMkLst>
          <pc:docMk/>
          <pc:sldMk cId="4109114552" sldId="256"/>
        </pc:sldMkLst>
        <pc:spChg chg="del mod">
          <ac:chgData name="Shashank A U" userId="4fcdf2cdb9badf55" providerId="LiveId" clId="{6C597875-81B4-4B56-B163-3F7BA8EDBFFA}" dt="2025-12-29T14:57:45.777" v="2"/>
          <ac:spMkLst>
            <pc:docMk/>
            <pc:sldMk cId="4109114552" sldId="256"/>
            <ac:spMk id="4" creationId="{EA9D21BB-F209-D156-25BE-44BF9733352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65B91-7429-7268-C386-6361C34D75B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2E819CB-F998-D3AA-AB33-87278109EA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B8C6726-F53F-466D-9DFA-DBDD1EE5B668}"/>
              </a:ext>
            </a:extLst>
          </p:cNvPr>
          <p:cNvSpPr>
            <a:spLocks noGrp="1"/>
          </p:cNvSpPr>
          <p:nvPr>
            <p:ph type="dt" sz="half" idx="10"/>
          </p:nvPr>
        </p:nvSpPr>
        <p:spPr/>
        <p:txBody>
          <a:bodyPr/>
          <a:lstStyle/>
          <a:p>
            <a:fld id="{F476A2ED-A73D-42D1-B908-F5E188B9A711}" type="datetimeFigureOut">
              <a:rPr lang="en-IN" smtClean="0"/>
              <a:t>29-12-2025</a:t>
            </a:fld>
            <a:endParaRPr lang="en-IN"/>
          </a:p>
        </p:txBody>
      </p:sp>
      <p:sp>
        <p:nvSpPr>
          <p:cNvPr id="5" name="Footer Placeholder 4">
            <a:extLst>
              <a:ext uri="{FF2B5EF4-FFF2-40B4-BE49-F238E27FC236}">
                <a16:creationId xmlns:a16="http://schemas.microsoft.com/office/drawing/2014/main" id="{BBEFE9E8-15E0-1CF6-E2C5-92B5E9EE39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4EFDF4-0D3E-5E04-5183-176F94C8C483}"/>
              </a:ext>
            </a:extLst>
          </p:cNvPr>
          <p:cNvSpPr>
            <a:spLocks noGrp="1"/>
          </p:cNvSpPr>
          <p:nvPr>
            <p:ph type="sldNum" sz="quarter" idx="12"/>
          </p:nvPr>
        </p:nvSpPr>
        <p:spPr/>
        <p:txBody>
          <a:bodyPr/>
          <a:lstStyle/>
          <a:p>
            <a:fld id="{C3806A34-1D49-4E81-88DC-2A4A41C7A5BA}" type="slidenum">
              <a:rPr lang="en-IN" smtClean="0"/>
              <a:t>‹#›</a:t>
            </a:fld>
            <a:endParaRPr lang="en-IN"/>
          </a:p>
        </p:txBody>
      </p:sp>
    </p:spTree>
    <p:extLst>
      <p:ext uri="{BB962C8B-B14F-4D97-AF65-F5344CB8AC3E}">
        <p14:creationId xmlns:p14="http://schemas.microsoft.com/office/powerpoint/2010/main" val="10162574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8E775-0913-CA1A-7C39-E523E3C61B9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26F093D-5E2C-0BBF-EDA2-119DFFA75A8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1773BC-4733-57EA-4492-5B6CB867496D}"/>
              </a:ext>
            </a:extLst>
          </p:cNvPr>
          <p:cNvSpPr>
            <a:spLocks noGrp="1"/>
          </p:cNvSpPr>
          <p:nvPr>
            <p:ph type="dt" sz="half" idx="10"/>
          </p:nvPr>
        </p:nvSpPr>
        <p:spPr/>
        <p:txBody>
          <a:bodyPr/>
          <a:lstStyle/>
          <a:p>
            <a:fld id="{F476A2ED-A73D-42D1-B908-F5E188B9A711}" type="datetimeFigureOut">
              <a:rPr lang="en-IN" smtClean="0"/>
              <a:t>29-12-2025</a:t>
            </a:fld>
            <a:endParaRPr lang="en-IN"/>
          </a:p>
        </p:txBody>
      </p:sp>
      <p:sp>
        <p:nvSpPr>
          <p:cNvPr id="5" name="Footer Placeholder 4">
            <a:extLst>
              <a:ext uri="{FF2B5EF4-FFF2-40B4-BE49-F238E27FC236}">
                <a16:creationId xmlns:a16="http://schemas.microsoft.com/office/drawing/2014/main" id="{F7FD39D3-35C5-94BD-AA20-99A93CF304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7D0CB91-2C3B-120F-F1E8-1C0AEEB889F5}"/>
              </a:ext>
            </a:extLst>
          </p:cNvPr>
          <p:cNvSpPr>
            <a:spLocks noGrp="1"/>
          </p:cNvSpPr>
          <p:nvPr>
            <p:ph type="sldNum" sz="quarter" idx="12"/>
          </p:nvPr>
        </p:nvSpPr>
        <p:spPr/>
        <p:txBody>
          <a:bodyPr/>
          <a:lstStyle/>
          <a:p>
            <a:fld id="{C3806A34-1D49-4E81-88DC-2A4A41C7A5BA}" type="slidenum">
              <a:rPr lang="en-IN" smtClean="0"/>
              <a:t>‹#›</a:t>
            </a:fld>
            <a:endParaRPr lang="en-IN"/>
          </a:p>
        </p:txBody>
      </p:sp>
    </p:spTree>
    <p:extLst>
      <p:ext uri="{BB962C8B-B14F-4D97-AF65-F5344CB8AC3E}">
        <p14:creationId xmlns:p14="http://schemas.microsoft.com/office/powerpoint/2010/main" val="25883494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B9EE9-F284-A182-8615-4F4F1F86EB2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E452410-5A69-C1D6-FE38-A0C6E382856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507C42-AD11-FB9E-E064-DD77F888B88D}"/>
              </a:ext>
            </a:extLst>
          </p:cNvPr>
          <p:cNvSpPr>
            <a:spLocks noGrp="1"/>
          </p:cNvSpPr>
          <p:nvPr>
            <p:ph type="dt" sz="half" idx="10"/>
          </p:nvPr>
        </p:nvSpPr>
        <p:spPr/>
        <p:txBody>
          <a:bodyPr/>
          <a:lstStyle/>
          <a:p>
            <a:fld id="{F476A2ED-A73D-42D1-B908-F5E188B9A711}" type="datetimeFigureOut">
              <a:rPr lang="en-IN" smtClean="0"/>
              <a:t>29-12-2025</a:t>
            </a:fld>
            <a:endParaRPr lang="en-IN"/>
          </a:p>
        </p:txBody>
      </p:sp>
      <p:sp>
        <p:nvSpPr>
          <p:cNvPr id="5" name="Footer Placeholder 4">
            <a:extLst>
              <a:ext uri="{FF2B5EF4-FFF2-40B4-BE49-F238E27FC236}">
                <a16:creationId xmlns:a16="http://schemas.microsoft.com/office/drawing/2014/main" id="{27837020-AB0B-941E-5F06-7C4BF6E2DB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AF47B6B-E11F-981E-DAE2-5679AEA464B3}"/>
              </a:ext>
            </a:extLst>
          </p:cNvPr>
          <p:cNvSpPr>
            <a:spLocks noGrp="1"/>
          </p:cNvSpPr>
          <p:nvPr>
            <p:ph type="sldNum" sz="quarter" idx="12"/>
          </p:nvPr>
        </p:nvSpPr>
        <p:spPr/>
        <p:txBody>
          <a:bodyPr/>
          <a:lstStyle/>
          <a:p>
            <a:fld id="{C3806A34-1D49-4E81-88DC-2A4A41C7A5BA}" type="slidenum">
              <a:rPr lang="en-IN" smtClean="0"/>
              <a:t>‹#›</a:t>
            </a:fld>
            <a:endParaRPr lang="en-IN"/>
          </a:p>
        </p:txBody>
      </p:sp>
    </p:spTree>
    <p:extLst>
      <p:ext uri="{BB962C8B-B14F-4D97-AF65-F5344CB8AC3E}">
        <p14:creationId xmlns:p14="http://schemas.microsoft.com/office/powerpoint/2010/main" val="36411940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556D5-F72B-1119-5910-2CF1F24E1FF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F758A7A-A94D-B086-28E5-AF3B043ACF7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A2AF33F-6E1A-7B61-711B-48490CC5A79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6F51C62-2FF3-5CAA-1055-702B9349E8BF}"/>
              </a:ext>
            </a:extLst>
          </p:cNvPr>
          <p:cNvSpPr>
            <a:spLocks noGrp="1"/>
          </p:cNvSpPr>
          <p:nvPr>
            <p:ph type="dt" sz="half" idx="10"/>
          </p:nvPr>
        </p:nvSpPr>
        <p:spPr/>
        <p:txBody>
          <a:bodyPr/>
          <a:lstStyle/>
          <a:p>
            <a:fld id="{F476A2ED-A73D-42D1-B908-F5E188B9A711}" type="datetimeFigureOut">
              <a:rPr lang="en-IN" smtClean="0"/>
              <a:t>29-12-2025</a:t>
            </a:fld>
            <a:endParaRPr lang="en-IN"/>
          </a:p>
        </p:txBody>
      </p:sp>
      <p:sp>
        <p:nvSpPr>
          <p:cNvPr id="6" name="Footer Placeholder 5">
            <a:extLst>
              <a:ext uri="{FF2B5EF4-FFF2-40B4-BE49-F238E27FC236}">
                <a16:creationId xmlns:a16="http://schemas.microsoft.com/office/drawing/2014/main" id="{C287A869-6BB9-1643-4B4B-AA6E8B535A2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3DA9BEB-5001-822B-183E-10DE327CEAE2}"/>
              </a:ext>
            </a:extLst>
          </p:cNvPr>
          <p:cNvSpPr>
            <a:spLocks noGrp="1"/>
          </p:cNvSpPr>
          <p:nvPr>
            <p:ph type="sldNum" sz="quarter" idx="12"/>
          </p:nvPr>
        </p:nvSpPr>
        <p:spPr/>
        <p:txBody>
          <a:bodyPr/>
          <a:lstStyle/>
          <a:p>
            <a:fld id="{C3806A34-1D49-4E81-88DC-2A4A41C7A5BA}" type="slidenum">
              <a:rPr lang="en-IN" smtClean="0"/>
              <a:t>‹#›</a:t>
            </a:fld>
            <a:endParaRPr lang="en-IN"/>
          </a:p>
        </p:txBody>
      </p:sp>
    </p:spTree>
    <p:extLst>
      <p:ext uri="{BB962C8B-B14F-4D97-AF65-F5344CB8AC3E}">
        <p14:creationId xmlns:p14="http://schemas.microsoft.com/office/powerpoint/2010/main" val="11817085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9FDCA-9EC2-9F6C-8136-E848068FBB1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8151564-1643-872E-59D0-491FEF6AEB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1AF282E-D393-1A37-9301-3CB5385D4C2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6401DC2-6D90-E97C-B50B-719929EF038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9D1FD5F-3887-C4A0-8235-E6E379D3ECB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AF6FE42-8446-5DB8-A7A1-E9C42377D791}"/>
              </a:ext>
            </a:extLst>
          </p:cNvPr>
          <p:cNvSpPr>
            <a:spLocks noGrp="1"/>
          </p:cNvSpPr>
          <p:nvPr>
            <p:ph type="dt" sz="half" idx="10"/>
          </p:nvPr>
        </p:nvSpPr>
        <p:spPr/>
        <p:txBody>
          <a:bodyPr/>
          <a:lstStyle/>
          <a:p>
            <a:fld id="{F476A2ED-A73D-42D1-B908-F5E188B9A711}" type="datetimeFigureOut">
              <a:rPr lang="en-IN" smtClean="0"/>
              <a:t>29-12-2025</a:t>
            </a:fld>
            <a:endParaRPr lang="en-IN"/>
          </a:p>
        </p:txBody>
      </p:sp>
      <p:sp>
        <p:nvSpPr>
          <p:cNvPr id="8" name="Footer Placeholder 7">
            <a:extLst>
              <a:ext uri="{FF2B5EF4-FFF2-40B4-BE49-F238E27FC236}">
                <a16:creationId xmlns:a16="http://schemas.microsoft.com/office/drawing/2014/main" id="{F1E08278-2208-1008-3FCB-3C78D92FBC8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F41B418-A08D-1DF5-40E4-22A0E3074113}"/>
              </a:ext>
            </a:extLst>
          </p:cNvPr>
          <p:cNvSpPr>
            <a:spLocks noGrp="1"/>
          </p:cNvSpPr>
          <p:nvPr>
            <p:ph type="sldNum" sz="quarter" idx="12"/>
          </p:nvPr>
        </p:nvSpPr>
        <p:spPr/>
        <p:txBody>
          <a:bodyPr/>
          <a:lstStyle/>
          <a:p>
            <a:fld id="{C3806A34-1D49-4E81-88DC-2A4A41C7A5BA}" type="slidenum">
              <a:rPr lang="en-IN" smtClean="0"/>
              <a:t>‹#›</a:t>
            </a:fld>
            <a:endParaRPr lang="en-IN"/>
          </a:p>
        </p:txBody>
      </p:sp>
    </p:spTree>
    <p:extLst>
      <p:ext uri="{BB962C8B-B14F-4D97-AF65-F5344CB8AC3E}">
        <p14:creationId xmlns:p14="http://schemas.microsoft.com/office/powerpoint/2010/main" val="5268903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7CA7A-B6EF-8FFB-1CC9-D96C8B13572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4D3ED2D-FD92-F11C-5C35-69284A0ACA4A}"/>
              </a:ext>
            </a:extLst>
          </p:cNvPr>
          <p:cNvSpPr>
            <a:spLocks noGrp="1"/>
          </p:cNvSpPr>
          <p:nvPr>
            <p:ph type="dt" sz="half" idx="10"/>
          </p:nvPr>
        </p:nvSpPr>
        <p:spPr/>
        <p:txBody>
          <a:bodyPr/>
          <a:lstStyle/>
          <a:p>
            <a:fld id="{F476A2ED-A73D-42D1-B908-F5E188B9A711}" type="datetimeFigureOut">
              <a:rPr lang="en-IN" smtClean="0"/>
              <a:t>29-12-2025</a:t>
            </a:fld>
            <a:endParaRPr lang="en-IN"/>
          </a:p>
        </p:txBody>
      </p:sp>
      <p:sp>
        <p:nvSpPr>
          <p:cNvPr id="4" name="Footer Placeholder 3">
            <a:extLst>
              <a:ext uri="{FF2B5EF4-FFF2-40B4-BE49-F238E27FC236}">
                <a16:creationId xmlns:a16="http://schemas.microsoft.com/office/drawing/2014/main" id="{856E24D4-7625-0FD1-86C5-986D72D41DC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B9BC382-A9D4-5063-5657-40E90F745A65}"/>
              </a:ext>
            </a:extLst>
          </p:cNvPr>
          <p:cNvSpPr>
            <a:spLocks noGrp="1"/>
          </p:cNvSpPr>
          <p:nvPr>
            <p:ph type="sldNum" sz="quarter" idx="12"/>
          </p:nvPr>
        </p:nvSpPr>
        <p:spPr/>
        <p:txBody>
          <a:bodyPr/>
          <a:lstStyle/>
          <a:p>
            <a:fld id="{C3806A34-1D49-4E81-88DC-2A4A41C7A5BA}" type="slidenum">
              <a:rPr lang="en-IN" smtClean="0"/>
              <a:t>‹#›</a:t>
            </a:fld>
            <a:endParaRPr lang="en-IN"/>
          </a:p>
        </p:txBody>
      </p:sp>
    </p:spTree>
    <p:extLst>
      <p:ext uri="{BB962C8B-B14F-4D97-AF65-F5344CB8AC3E}">
        <p14:creationId xmlns:p14="http://schemas.microsoft.com/office/powerpoint/2010/main" val="7977262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FDF827-512F-C5FA-6CDF-24E3C6500A96}"/>
              </a:ext>
            </a:extLst>
          </p:cNvPr>
          <p:cNvSpPr>
            <a:spLocks noGrp="1"/>
          </p:cNvSpPr>
          <p:nvPr>
            <p:ph type="dt" sz="half" idx="10"/>
          </p:nvPr>
        </p:nvSpPr>
        <p:spPr/>
        <p:txBody>
          <a:bodyPr/>
          <a:lstStyle/>
          <a:p>
            <a:fld id="{F476A2ED-A73D-42D1-B908-F5E188B9A711}" type="datetimeFigureOut">
              <a:rPr lang="en-IN" smtClean="0"/>
              <a:t>29-12-2025</a:t>
            </a:fld>
            <a:endParaRPr lang="en-IN"/>
          </a:p>
        </p:txBody>
      </p:sp>
      <p:sp>
        <p:nvSpPr>
          <p:cNvPr id="3" name="Footer Placeholder 2">
            <a:extLst>
              <a:ext uri="{FF2B5EF4-FFF2-40B4-BE49-F238E27FC236}">
                <a16:creationId xmlns:a16="http://schemas.microsoft.com/office/drawing/2014/main" id="{F91C9F3D-E1FA-1CD0-F1CB-8235E6B6918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6EBC1D7-7C43-9E49-8F96-2EBBFC52475F}"/>
              </a:ext>
            </a:extLst>
          </p:cNvPr>
          <p:cNvSpPr>
            <a:spLocks noGrp="1"/>
          </p:cNvSpPr>
          <p:nvPr>
            <p:ph type="sldNum" sz="quarter" idx="12"/>
          </p:nvPr>
        </p:nvSpPr>
        <p:spPr/>
        <p:txBody>
          <a:bodyPr/>
          <a:lstStyle/>
          <a:p>
            <a:fld id="{C3806A34-1D49-4E81-88DC-2A4A41C7A5BA}" type="slidenum">
              <a:rPr lang="en-IN" smtClean="0"/>
              <a:t>‹#›</a:t>
            </a:fld>
            <a:endParaRPr lang="en-IN"/>
          </a:p>
        </p:txBody>
      </p:sp>
    </p:spTree>
    <p:extLst>
      <p:ext uri="{BB962C8B-B14F-4D97-AF65-F5344CB8AC3E}">
        <p14:creationId xmlns:p14="http://schemas.microsoft.com/office/powerpoint/2010/main" val="24207864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0B294-FE74-CD77-4D90-1E7F80BD36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8C422EE-D280-2689-59B1-BAB36B2BE3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F7BD081-FAD2-4E50-CFDB-799D98B358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611E19-92A1-4E61-553D-9D33756E5818}"/>
              </a:ext>
            </a:extLst>
          </p:cNvPr>
          <p:cNvSpPr>
            <a:spLocks noGrp="1"/>
          </p:cNvSpPr>
          <p:nvPr>
            <p:ph type="dt" sz="half" idx="10"/>
          </p:nvPr>
        </p:nvSpPr>
        <p:spPr/>
        <p:txBody>
          <a:bodyPr/>
          <a:lstStyle/>
          <a:p>
            <a:fld id="{F476A2ED-A73D-42D1-B908-F5E188B9A711}" type="datetimeFigureOut">
              <a:rPr lang="en-IN" smtClean="0"/>
              <a:t>29-12-2025</a:t>
            </a:fld>
            <a:endParaRPr lang="en-IN"/>
          </a:p>
        </p:txBody>
      </p:sp>
      <p:sp>
        <p:nvSpPr>
          <p:cNvPr id="6" name="Footer Placeholder 5">
            <a:extLst>
              <a:ext uri="{FF2B5EF4-FFF2-40B4-BE49-F238E27FC236}">
                <a16:creationId xmlns:a16="http://schemas.microsoft.com/office/drawing/2014/main" id="{00B1B4A5-2BAA-B632-E560-570FDF90046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88A38A1-AAC0-9211-5C3F-CC28C3862264}"/>
              </a:ext>
            </a:extLst>
          </p:cNvPr>
          <p:cNvSpPr>
            <a:spLocks noGrp="1"/>
          </p:cNvSpPr>
          <p:nvPr>
            <p:ph type="sldNum" sz="quarter" idx="12"/>
          </p:nvPr>
        </p:nvSpPr>
        <p:spPr/>
        <p:txBody>
          <a:bodyPr/>
          <a:lstStyle/>
          <a:p>
            <a:fld id="{C3806A34-1D49-4E81-88DC-2A4A41C7A5BA}" type="slidenum">
              <a:rPr lang="en-IN" smtClean="0"/>
              <a:t>‹#›</a:t>
            </a:fld>
            <a:endParaRPr lang="en-IN"/>
          </a:p>
        </p:txBody>
      </p:sp>
    </p:spTree>
    <p:extLst>
      <p:ext uri="{BB962C8B-B14F-4D97-AF65-F5344CB8AC3E}">
        <p14:creationId xmlns:p14="http://schemas.microsoft.com/office/powerpoint/2010/main" val="2046688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BFD61-4160-CD35-96DC-AD00EB162C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633666D-0250-EBF9-C68F-9000E2B52D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E5D9830-D9CA-DBF4-343B-2A96D93398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21B7E2-BDD3-D3EC-C12B-7F39052BC7C4}"/>
              </a:ext>
            </a:extLst>
          </p:cNvPr>
          <p:cNvSpPr>
            <a:spLocks noGrp="1"/>
          </p:cNvSpPr>
          <p:nvPr>
            <p:ph type="dt" sz="half" idx="10"/>
          </p:nvPr>
        </p:nvSpPr>
        <p:spPr/>
        <p:txBody>
          <a:bodyPr/>
          <a:lstStyle/>
          <a:p>
            <a:fld id="{F476A2ED-A73D-42D1-B908-F5E188B9A711}" type="datetimeFigureOut">
              <a:rPr lang="en-IN" smtClean="0"/>
              <a:t>29-12-2025</a:t>
            </a:fld>
            <a:endParaRPr lang="en-IN"/>
          </a:p>
        </p:txBody>
      </p:sp>
      <p:sp>
        <p:nvSpPr>
          <p:cNvPr id="6" name="Footer Placeholder 5">
            <a:extLst>
              <a:ext uri="{FF2B5EF4-FFF2-40B4-BE49-F238E27FC236}">
                <a16:creationId xmlns:a16="http://schemas.microsoft.com/office/drawing/2014/main" id="{82E19CAB-A3E6-11DB-6BD9-97AB96BB41E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82ED4B4-14AF-37AD-F55E-255A34526C32}"/>
              </a:ext>
            </a:extLst>
          </p:cNvPr>
          <p:cNvSpPr>
            <a:spLocks noGrp="1"/>
          </p:cNvSpPr>
          <p:nvPr>
            <p:ph type="sldNum" sz="quarter" idx="12"/>
          </p:nvPr>
        </p:nvSpPr>
        <p:spPr/>
        <p:txBody>
          <a:bodyPr/>
          <a:lstStyle/>
          <a:p>
            <a:fld id="{C3806A34-1D49-4E81-88DC-2A4A41C7A5BA}" type="slidenum">
              <a:rPr lang="en-IN" smtClean="0"/>
              <a:t>‹#›</a:t>
            </a:fld>
            <a:endParaRPr lang="en-IN"/>
          </a:p>
        </p:txBody>
      </p:sp>
    </p:spTree>
    <p:extLst>
      <p:ext uri="{BB962C8B-B14F-4D97-AF65-F5344CB8AC3E}">
        <p14:creationId xmlns:p14="http://schemas.microsoft.com/office/powerpoint/2010/main" val="18569565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C90E0-C35C-7373-E706-B87467852F1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1F26446-9386-7610-CF28-9E9D686F708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7771201-0A67-E0DE-A0E3-2E8228D3B97F}"/>
              </a:ext>
            </a:extLst>
          </p:cNvPr>
          <p:cNvSpPr>
            <a:spLocks noGrp="1"/>
          </p:cNvSpPr>
          <p:nvPr>
            <p:ph type="dt" sz="half" idx="10"/>
          </p:nvPr>
        </p:nvSpPr>
        <p:spPr/>
        <p:txBody>
          <a:bodyPr/>
          <a:lstStyle/>
          <a:p>
            <a:fld id="{F476A2ED-A73D-42D1-B908-F5E188B9A711}" type="datetimeFigureOut">
              <a:rPr lang="en-IN" smtClean="0"/>
              <a:t>29-12-2025</a:t>
            </a:fld>
            <a:endParaRPr lang="en-IN"/>
          </a:p>
        </p:txBody>
      </p:sp>
      <p:sp>
        <p:nvSpPr>
          <p:cNvPr id="5" name="Footer Placeholder 4">
            <a:extLst>
              <a:ext uri="{FF2B5EF4-FFF2-40B4-BE49-F238E27FC236}">
                <a16:creationId xmlns:a16="http://schemas.microsoft.com/office/drawing/2014/main" id="{2457CECC-82DB-6D80-C44F-EC014AF39F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30DA0D2-2A47-F418-682C-7DDD39BEB69C}"/>
              </a:ext>
            </a:extLst>
          </p:cNvPr>
          <p:cNvSpPr>
            <a:spLocks noGrp="1"/>
          </p:cNvSpPr>
          <p:nvPr>
            <p:ph type="sldNum" sz="quarter" idx="12"/>
          </p:nvPr>
        </p:nvSpPr>
        <p:spPr/>
        <p:txBody>
          <a:bodyPr/>
          <a:lstStyle/>
          <a:p>
            <a:fld id="{C3806A34-1D49-4E81-88DC-2A4A41C7A5BA}" type="slidenum">
              <a:rPr lang="en-IN" smtClean="0"/>
              <a:t>‹#›</a:t>
            </a:fld>
            <a:endParaRPr lang="en-IN"/>
          </a:p>
        </p:txBody>
      </p:sp>
    </p:spTree>
    <p:extLst>
      <p:ext uri="{BB962C8B-B14F-4D97-AF65-F5344CB8AC3E}">
        <p14:creationId xmlns:p14="http://schemas.microsoft.com/office/powerpoint/2010/main" val="747508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9939A-A777-8F23-54A1-6AD21A05CCD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BFAD637-307C-6E6D-0D56-0868E50876D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D9417E-B7E8-69B6-F0ED-898368B1B84D}"/>
              </a:ext>
            </a:extLst>
          </p:cNvPr>
          <p:cNvSpPr>
            <a:spLocks noGrp="1"/>
          </p:cNvSpPr>
          <p:nvPr>
            <p:ph type="dt" sz="half" idx="10"/>
          </p:nvPr>
        </p:nvSpPr>
        <p:spPr/>
        <p:txBody>
          <a:bodyPr/>
          <a:lstStyle/>
          <a:p>
            <a:fld id="{F476A2ED-A73D-42D1-B908-F5E188B9A711}" type="datetimeFigureOut">
              <a:rPr lang="en-IN" smtClean="0"/>
              <a:t>29-12-2025</a:t>
            </a:fld>
            <a:endParaRPr lang="en-IN"/>
          </a:p>
        </p:txBody>
      </p:sp>
      <p:sp>
        <p:nvSpPr>
          <p:cNvPr id="5" name="Footer Placeholder 4">
            <a:extLst>
              <a:ext uri="{FF2B5EF4-FFF2-40B4-BE49-F238E27FC236}">
                <a16:creationId xmlns:a16="http://schemas.microsoft.com/office/drawing/2014/main" id="{4B7AAECB-605B-B8BA-F615-02D3F089D55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F09E2B-31C3-60B2-4803-EC340A541FE3}"/>
              </a:ext>
            </a:extLst>
          </p:cNvPr>
          <p:cNvSpPr>
            <a:spLocks noGrp="1"/>
          </p:cNvSpPr>
          <p:nvPr>
            <p:ph type="sldNum" sz="quarter" idx="12"/>
          </p:nvPr>
        </p:nvSpPr>
        <p:spPr/>
        <p:txBody>
          <a:bodyPr/>
          <a:lstStyle/>
          <a:p>
            <a:fld id="{C3806A34-1D49-4E81-88DC-2A4A41C7A5BA}" type="slidenum">
              <a:rPr lang="en-IN" smtClean="0"/>
              <a:t>‹#›</a:t>
            </a:fld>
            <a:endParaRPr lang="en-IN"/>
          </a:p>
        </p:txBody>
      </p:sp>
    </p:spTree>
    <p:extLst>
      <p:ext uri="{BB962C8B-B14F-4D97-AF65-F5344CB8AC3E}">
        <p14:creationId xmlns:p14="http://schemas.microsoft.com/office/powerpoint/2010/main" val="25843778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77A26D-E45D-59BA-231E-913C27ACEA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0CBB783-21C5-5519-EF7D-6863CE1867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9F87D6A-FCCA-9377-F3CD-7BB4759C12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476A2ED-A73D-42D1-B908-F5E188B9A711}" type="datetimeFigureOut">
              <a:rPr lang="en-IN" smtClean="0"/>
              <a:t>29-12-2025</a:t>
            </a:fld>
            <a:endParaRPr lang="en-IN"/>
          </a:p>
        </p:txBody>
      </p:sp>
      <p:sp>
        <p:nvSpPr>
          <p:cNvPr id="5" name="Footer Placeholder 4">
            <a:extLst>
              <a:ext uri="{FF2B5EF4-FFF2-40B4-BE49-F238E27FC236}">
                <a16:creationId xmlns:a16="http://schemas.microsoft.com/office/drawing/2014/main" id="{7ECC62B3-03C2-1D11-FF90-01A298DCB9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A329C0F8-0061-5675-887D-EC1AF293EC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3806A34-1D49-4E81-88DC-2A4A41C7A5BA}" type="slidenum">
              <a:rPr lang="en-IN" smtClean="0"/>
              <a:t>‹#›</a:t>
            </a:fld>
            <a:endParaRPr lang="en-IN"/>
          </a:p>
        </p:txBody>
      </p:sp>
    </p:spTree>
    <p:extLst>
      <p:ext uri="{BB962C8B-B14F-4D97-AF65-F5344CB8AC3E}">
        <p14:creationId xmlns:p14="http://schemas.microsoft.com/office/powerpoint/2010/main" val="8876652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microsoft.com/office/2007/relationships/hdphoto" Target="../media/hdphoto1.wdp"/><Relationship Id="rId7"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7.png"/><Relationship Id="rId5" Type="http://schemas.microsoft.com/office/2007/relationships/hdphoto" Target="../media/hdphoto2.wdp"/><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3" Type="http://schemas.microsoft.com/office/2007/relationships/hdphoto" Target="../media/hdphoto3.wdp"/><Relationship Id="rId7" Type="http://schemas.microsoft.com/office/2007/relationships/hdphoto" Target="../media/hdphoto5.wdp"/><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2.png"/><Relationship Id="rId5" Type="http://schemas.microsoft.com/office/2007/relationships/hdphoto" Target="../media/hdphoto4.wdp"/><Relationship Id="rId4" Type="http://schemas.openxmlformats.org/officeDocument/2006/relationships/image" Target="../media/image11.png"/><Relationship Id="rId9" Type="http://schemas.microsoft.com/office/2007/relationships/hdphoto" Target="../media/hdphoto6.wdp"/></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C1472-2343-9E78-9399-5BADFC24065A}"/>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CB0C295D-D603-993D-52D0-FB8B88AD7AD5}"/>
              </a:ext>
            </a:extLst>
          </p:cNvPr>
          <p:cNvSpPr>
            <a:spLocks noGrp="1"/>
          </p:cNvSpPr>
          <p:nvPr>
            <p:ph type="subTitle" idx="1"/>
          </p:nvPr>
        </p:nvSpPr>
        <p:spPr/>
        <p:txBody>
          <a:bodyPr/>
          <a:lstStyle/>
          <a:p>
            <a:endParaRPr lang="en-IN"/>
          </a:p>
        </p:txBody>
      </p:sp>
      <p:pic>
        <p:nvPicPr>
          <p:cNvPr id="5" name="Picture 4" descr="A hand holding a bag of money&#10;&#10;AI-generated content may be incorrect.">
            <a:extLst>
              <a:ext uri="{FF2B5EF4-FFF2-40B4-BE49-F238E27FC236}">
                <a16:creationId xmlns:a16="http://schemas.microsoft.com/office/drawing/2014/main" id="{2D6EC05A-388B-5202-0D2E-A829353256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solidFill>
            <a:schemeClr val="tx1"/>
          </a:solidFill>
        </p:spPr>
      </p:pic>
      <p:sp>
        <p:nvSpPr>
          <p:cNvPr id="6" name="TextBox 5">
            <a:extLst>
              <a:ext uri="{FF2B5EF4-FFF2-40B4-BE49-F238E27FC236}">
                <a16:creationId xmlns:a16="http://schemas.microsoft.com/office/drawing/2014/main" id="{6CECF053-417A-AB62-6A58-22DA25630DBD}"/>
              </a:ext>
            </a:extLst>
          </p:cNvPr>
          <p:cNvSpPr txBox="1"/>
          <p:nvPr/>
        </p:nvSpPr>
        <p:spPr>
          <a:xfrm>
            <a:off x="7445828" y="242594"/>
            <a:ext cx="3526972" cy="861774"/>
          </a:xfrm>
          <a:prstGeom prst="rect">
            <a:avLst/>
          </a:prstGeom>
          <a:noFill/>
        </p:spPr>
        <p:txBody>
          <a:bodyPr wrap="square" rtlCol="0">
            <a:spAutoFit/>
          </a:bodyPr>
          <a:lstStyle/>
          <a:p>
            <a:r>
              <a:rPr lang="en-US" sz="5000" b="1" dirty="0">
                <a:solidFill>
                  <a:srgbClr val="00283A"/>
                </a:solidFill>
                <a:latin typeface="Franklin Gothic Heavy" panose="020B0903020102020204" pitchFamily="34" charset="0"/>
              </a:rPr>
              <a:t>Analytics</a:t>
            </a:r>
            <a:r>
              <a:rPr lang="en-US" sz="5000" dirty="0">
                <a:solidFill>
                  <a:srgbClr val="00283A"/>
                </a:solidFill>
                <a:latin typeface="Franklin Gothic Heavy" panose="020B0903020102020204" pitchFamily="34" charset="0"/>
              </a:rPr>
              <a:t> </a:t>
            </a:r>
            <a:endParaRPr lang="en-IN" sz="5000" dirty="0">
              <a:solidFill>
                <a:srgbClr val="00283A"/>
              </a:solidFill>
              <a:latin typeface="Franklin Gothic Heavy" panose="020B0903020102020204" pitchFamily="34" charset="0"/>
            </a:endParaRPr>
          </a:p>
        </p:txBody>
      </p:sp>
      <p:sp>
        <p:nvSpPr>
          <p:cNvPr id="7" name="TextBox 6">
            <a:extLst>
              <a:ext uri="{FF2B5EF4-FFF2-40B4-BE49-F238E27FC236}">
                <a16:creationId xmlns:a16="http://schemas.microsoft.com/office/drawing/2014/main" id="{452A13C4-BFD0-EA44-92BA-EFBEACCF02F3}"/>
              </a:ext>
            </a:extLst>
          </p:cNvPr>
          <p:cNvSpPr txBox="1"/>
          <p:nvPr/>
        </p:nvSpPr>
        <p:spPr>
          <a:xfrm>
            <a:off x="6820677" y="1122363"/>
            <a:ext cx="3526972" cy="369332"/>
          </a:xfrm>
          <a:prstGeom prst="rect">
            <a:avLst/>
          </a:prstGeom>
          <a:noFill/>
        </p:spPr>
        <p:txBody>
          <a:bodyPr wrap="square" rtlCol="0">
            <a:spAutoFit/>
          </a:bodyPr>
          <a:lstStyle/>
          <a:p>
            <a:r>
              <a:rPr lang="en-US" b="1" dirty="0">
                <a:solidFill>
                  <a:schemeClr val="accent1">
                    <a:lumMod val="50000"/>
                  </a:schemeClr>
                </a:solidFill>
                <a:latin typeface="Arial Black" panose="020B0A04020102020204" pitchFamily="34" charset="0"/>
              </a:rPr>
              <a:t>Group 3</a:t>
            </a:r>
            <a:endParaRPr lang="en-IN" b="1" dirty="0">
              <a:solidFill>
                <a:schemeClr val="accent1">
                  <a:lumMod val="50000"/>
                </a:schemeClr>
              </a:solidFill>
              <a:latin typeface="Arial Black" panose="020B0A04020102020204" pitchFamily="34" charset="0"/>
            </a:endParaRPr>
          </a:p>
        </p:txBody>
      </p:sp>
    </p:spTree>
    <p:extLst>
      <p:ext uri="{BB962C8B-B14F-4D97-AF65-F5344CB8AC3E}">
        <p14:creationId xmlns:p14="http://schemas.microsoft.com/office/powerpoint/2010/main" val="41091145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5AAA963-F195-5824-540A-93D8B09A6E84}"/>
              </a:ext>
            </a:extLst>
          </p:cNvPr>
          <p:cNvSpPr/>
          <p:nvPr/>
        </p:nvSpPr>
        <p:spPr>
          <a:xfrm>
            <a:off x="54427" y="0"/>
            <a:ext cx="3845769" cy="111967"/>
          </a:xfrm>
          <a:prstGeom prst="rect">
            <a:avLst/>
          </a:prstGeom>
          <a:solidFill>
            <a:srgbClr val="0D3B4F"/>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F08F76D0-16C2-292D-5604-43C6714C89B9}"/>
              </a:ext>
            </a:extLst>
          </p:cNvPr>
          <p:cNvSpPr/>
          <p:nvPr/>
        </p:nvSpPr>
        <p:spPr>
          <a:xfrm>
            <a:off x="4030824" y="0"/>
            <a:ext cx="4260982" cy="111967"/>
          </a:xfrm>
          <a:prstGeom prst="rect">
            <a:avLst/>
          </a:prstGeom>
          <a:solidFill>
            <a:srgbClr val="2A7E7C"/>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C4D207DB-E649-7D81-5EA8-907EB5166A56}"/>
              </a:ext>
            </a:extLst>
          </p:cNvPr>
          <p:cNvSpPr/>
          <p:nvPr/>
        </p:nvSpPr>
        <p:spPr>
          <a:xfrm>
            <a:off x="8397552" y="0"/>
            <a:ext cx="3740022" cy="111967"/>
          </a:xfrm>
          <a:prstGeom prst="rect">
            <a:avLst/>
          </a:prstGeom>
          <a:solidFill>
            <a:srgbClr val="0D3B4F"/>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38C4530D-7CA5-AF4C-ABF9-1FB68C4D3407}"/>
              </a:ext>
            </a:extLst>
          </p:cNvPr>
          <p:cNvSpPr/>
          <p:nvPr/>
        </p:nvSpPr>
        <p:spPr>
          <a:xfrm>
            <a:off x="4299857" y="163285"/>
            <a:ext cx="7837716" cy="6386805"/>
          </a:xfrm>
          <a:prstGeom prst="rect">
            <a:avLst/>
          </a:prstGeom>
          <a:solidFill>
            <a:srgbClr val="0D3B4F"/>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9DD1B3EA-7176-6AD3-E1E5-C1508A244046}"/>
              </a:ext>
            </a:extLst>
          </p:cNvPr>
          <p:cNvSpPr txBox="1"/>
          <p:nvPr/>
        </p:nvSpPr>
        <p:spPr>
          <a:xfrm>
            <a:off x="4922676" y="1871602"/>
            <a:ext cx="6908540" cy="2308324"/>
          </a:xfrm>
          <a:prstGeom prst="rect">
            <a:avLst/>
          </a:prstGeom>
          <a:noFill/>
        </p:spPr>
        <p:txBody>
          <a:bodyPr wrap="square" rtlCol="0">
            <a:spAutoFit/>
          </a:bodyPr>
          <a:lstStyle/>
          <a:p>
            <a:pPr algn="just"/>
            <a:r>
              <a:rPr lang="en-US" dirty="0">
                <a:solidFill>
                  <a:schemeClr val="bg1"/>
                </a:solidFill>
              </a:rPr>
              <a:t>This project aims to analyze bank loan data to understand customer behavior, loan approval patterns, and default risks. Using Excel for cleaning, SQL for data merging and KPI calculation, and Power BI and Tableau for dashboard creation, the project transforms raw financial data into meaningful insights. The analysis helps identify key factors that influence loan approval, highlights risk segments, and provides visual dashboards that support faster and more accurate decision-making for banks.</a:t>
            </a:r>
            <a:endParaRPr lang="en-IN" dirty="0">
              <a:solidFill>
                <a:schemeClr val="bg1"/>
              </a:solidFill>
            </a:endParaRPr>
          </a:p>
        </p:txBody>
      </p:sp>
      <p:sp>
        <p:nvSpPr>
          <p:cNvPr id="13" name="TextBox 12">
            <a:extLst>
              <a:ext uri="{FF2B5EF4-FFF2-40B4-BE49-F238E27FC236}">
                <a16:creationId xmlns:a16="http://schemas.microsoft.com/office/drawing/2014/main" id="{4498091B-2CA7-4341-4E74-3369F93F5451}"/>
              </a:ext>
            </a:extLst>
          </p:cNvPr>
          <p:cNvSpPr txBox="1"/>
          <p:nvPr/>
        </p:nvSpPr>
        <p:spPr>
          <a:xfrm>
            <a:off x="5402423" y="783770"/>
            <a:ext cx="6162093" cy="769441"/>
          </a:xfrm>
          <a:prstGeom prst="rect">
            <a:avLst/>
          </a:prstGeom>
          <a:noFill/>
        </p:spPr>
        <p:txBody>
          <a:bodyPr wrap="square" rtlCol="0">
            <a:spAutoFit/>
          </a:bodyPr>
          <a:lstStyle/>
          <a:p>
            <a:r>
              <a:rPr lang="en-US" sz="4400" dirty="0">
                <a:solidFill>
                  <a:schemeClr val="bg1"/>
                </a:solidFill>
                <a:latin typeface="Georgia Pro" panose="02040502050405020303" pitchFamily="18" charset="0"/>
              </a:rPr>
              <a:t>INTRODUCTION</a:t>
            </a:r>
            <a:endParaRPr lang="en-IN" sz="4400" dirty="0">
              <a:solidFill>
                <a:schemeClr val="bg1"/>
              </a:solidFill>
              <a:latin typeface="Georgia Pro" panose="02040502050405020303" pitchFamily="18" charset="0"/>
            </a:endParaRPr>
          </a:p>
        </p:txBody>
      </p:sp>
      <p:pic>
        <p:nvPicPr>
          <p:cNvPr id="15" name="Picture 14" descr="A pen on a financial report&#10;&#10;AI-generated content may be incorrect.">
            <a:extLst>
              <a:ext uri="{FF2B5EF4-FFF2-40B4-BE49-F238E27FC236}">
                <a16:creationId xmlns:a16="http://schemas.microsoft.com/office/drawing/2014/main" id="{939BC8A4-1FFC-99AC-2C95-9631FCC257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6899" y="886408"/>
            <a:ext cx="3009901" cy="4555713"/>
          </a:xfrm>
          <a:prstGeom prst="rect">
            <a:avLst/>
          </a:prstGeom>
        </p:spPr>
      </p:pic>
    </p:spTree>
    <p:extLst>
      <p:ext uri="{BB962C8B-B14F-4D97-AF65-F5344CB8AC3E}">
        <p14:creationId xmlns:p14="http://schemas.microsoft.com/office/powerpoint/2010/main" val="34244350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5AAA963-F195-5824-540A-93D8B09A6E84}"/>
              </a:ext>
            </a:extLst>
          </p:cNvPr>
          <p:cNvSpPr/>
          <p:nvPr/>
        </p:nvSpPr>
        <p:spPr>
          <a:xfrm>
            <a:off x="54427" y="0"/>
            <a:ext cx="3845769" cy="111967"/>
          </a:xfrm>
          <a:prstGeom prst="rect">
            <a:avLst/>
          </a:prstGeom>
          <a:solidFill>
            <a:srgbClr val="0D3B4F"/>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F08F76D0-16C2-292D-5604-43C6714C89B9}"/>
              </a:ext>
            </a:extLst>
          </p:cNvPr>
          <p:cNvSpPr/>
          <p:nvPr/>
        </p:nvSpPr>
        <p:spPr>
          <a:xfrm>
            <a:off x="4030824" y="0"/>
            <a:ext cx="4260982" cy="111967"/>
          </a:xfrm>
          <a:prstGeom prst="rect">
            <a:avLst/>
          </a:prstGeom>
          <a:solidFill>
            <a:srgbClr val="2A7E7C"/>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C4D207DB-E649-7D81-5EA8-907EB5166A56}"/>
              </a:ext>
            </a:extLst>
          </p:cNvPr>
          <p:cNvSpPr/>
          <p:nvPr/>
        </p:nvSpPr>
        <p:spPr>
          <a:xfrm>
            <a:off x="8397552" y="0"/>
            <a:ext cx="3740022" cy="111967"/>
          </a:xfrm>
          <a:prstGeom prst="rect">
            <a:avLst/>
          </a:prstGeom>
          <a:solidFill>
            <a:srgbClr val="0D3B4F"/>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38C4530D-7CA5-AF4C-ABF9-1FB68C4D3407}"/>
              </a:ext>
            </a:extLst>
          </p:cNvPr>
          <p:cNvSpPr/>
          <p:nvPr/>
        </p:nvSpPr>
        <p:spPr>
          <a:xfrm>
            <a:off x="54426" y="177280"/>
            <a:ext cx="3845769" cy="6386807"/>
          </a:xfrm>
          <a:prstGeom prst="rect">
            <a:avLst/>
          </a:prstGeom>
          <a:solidFill>
            <a:srgbClr val="0D3B4F"/>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6DC5E2A7-DC69-84BB-5605-C4E8AD6B4B6C}"/>
              </a:ext>
            </a:extLst>
          </p:cNvPr>
          <p:cNvSpPr txBox="1"/>
          <p:nvPr/>
        </p:nvSpPr>
        <p:spPr>
          <a:xfrm>
            <a:off x="335902" y="2633315"/>
            <a:ext cx="4022273" cy="584775"/>
          </a:xfrm>
          <a:prstGeom prst="rect">
            <a:avLst/>
          </a:prstGeom>
          <a:noFill/>
        </p:spPr>
        <p:txBody>
          <a:bodyPr wrap="square" rtlCol="0">
            <a:spAutoFit/>
          </a:bodyPr>
          <a:lstStyle/>
          <a:p>
            <a:r>
              <a:rPr lang="en-US" sz="3200" dirty="0">
                <a:solidFill>
                  <a:schemeClr val="bg1"/>
                </a:solidFill>
              </a:rPr>
              <a:t>Datasets </a:t>
            </a:r>
            <a:endParaRPr lang="en-IN" sz="3200" dirty="0">
              <a:solidFill>
                <a:schemeClr val="bg1"/>
              </a:solidFill>
            </a:endParaRPr>
          </a:p>
        </p:txBody>
      </p:sp>
      <p:sp>
        <p:nvSpPr>
          <p:cNvPr id="6" name="TextBox 5">
            <a:extLst>
              <a:ext uri="{FF2B5EF4-FFF2-40B4-BE49-F238E27FC236}">
                <a16:creationId xmlns:a16="http://schemas.microsoft.com/office/drawing/2014/main" id="{165AC98A-29FF-CA27-549A-B0F1D8141711}"/>
              </a:ext>
            </a:extLst>
          </p:cNvPr>
          <p:cNvSpPr txBox="1"/>
          <p:nvPr/>
        </p:nvSpPr>
        <p:spPr>
          <a:xfrm>
            <a:off x="260477" y="3218090"/>
            <a:ext cx="3433666" cy="523220"/>
          </a:xfrm>
          <a:prstGeom prst="rect">
            <a:avLst/>
          </a:prstGeom>
          <a:noFill/>
        </p:spPr>
        <p:txBody>
          <a:bodyPr wrap="square" rtlCol="0">
            <a:spAutoFit/>
          </a:bodyPr>
          <a:lstStyle/>
          <a:p>
            <a:r>
              <a:rPr lang="en-US" sz="1400" dirty="0">
                <a:solidFill>
                  <a:schemeClr val="bg1"/>
                </a:solidFill>
                <a:latin typeface="Arial" panose="020B0604020202020204" pitchFamily="34" charset="0"/>
                <a:cs typeface="Arial" panose="020B0604020202020204" pitchFamily="34" charset="0"/>
              </a:rPr>
              <a:t>FINANCE_1 AND FINANCE_2 ARE THE TWO DATASETS USED FOR ANALYSIS</a:t>
            </a:r>
            <a:endParaRPr lang="en-IN" sz="1400" dirty="0">
              <a:solidFill>
                <a:schemeClr val="bg1"/>
              </a:solidFill>
              <a:latin typeface="Arial" panose="020B0604020202020204" pitchFamily="34" charset="0"/>
              <a:cs typeface="Arial" panose="020B0604020202020204" pitchFamily="34" charset="0"/>
            </a:endParaRPr>
          </a:p>
        </p:txBody>
      </p:sp>
      <p:pic>
        <p:nvPicPr>
          <p:cNvPr id="13" name="Picture 12" descr="A screenshot of a computer&#10;&#10;AI-generated content may be incorrect.">
            <a:extLst>
              <a:ext uri="{FF2B5EF4-FFF2-40B4-BE49-F238E27FC236}">
                <a16:creationId xmlns:a16="http://schemas.microsoft.com/office/drawing/2014/main" id="{087F74F0-0F8D-DE3A-6852-6B69685032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76398" y="166980"/>
            <a:ext cx="8032100" cy="2930784"/>
          </a:xfrm>
          <a:prstGeom prst="rect">
            <a:avLst/>
          </a:prstGeom>
          <a:effectLst>
            <a:outerShdw blurRad="50800" dist="38100" dir="2700000" algn="tl" rotWithShape="0">
              <a:prstClr val="black">
                <a:alpha val="40000"/>
              </a:prstClr>
            </a:outerShdw>
          </a:effectLst>
        </p:spPr>
      </p:pic>
      <p:pic>
        <p:nvPicPr>
          <p:cNvPr id="16" name="Picture 15" descr="A grid of lines with numbers&#10;&#10;AI-generated content may be incorrect.">
            <a:extLst>
              <a:ext uri="{FF2B5EF4-FFF2-40B4-BE49-F238E27FC236}">
                <a16:creationId xmlns:a16="http://schemas.microsoft.com/office/drawing/2014/main" id="{694FCDBA-1F57-1A94-C438-4AB8B047D4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73290" y="3312367"/>
            <a:ext cx="8032100" cy="3251720"/>
          </a:xfrm>
          <a:prstGeom prst="rect">
            <a:avLst/>
          </a:prstGeom>
          <a:effectLst>
            <a:outerShdw blurRad="50800" dist="38100" dir="2700000" algn="tl" rotWithShape="0">
              <a:prstClr val="black">
                <a:alpha val="40000"/>
              </a:prstClr>
            </a:outerShdw>
          </a:effectLst>
        </p:spPr>
      </p:pic>
      <p:sp>
        <p:nvSpPr>
          <p:cNvPr id="7" name="TextBox 6">
            <a:extLst>
              <a:ext uri="{FF2B5EF4-FFF2-40B4-BE49-F238E27FC236}">
                <a16:creationId xmlns:a16="http://schemas.microsoft.com/office/drawing/2014/main" id="{1B296752-35D0-D6A3-5ECC-C52D1C6FE58B}"/>
              </a:ext>
            </a:extLst>
          </p:cNvPr>
          <p:cNvSpPr txBox="1"/>
          <p:nvPr/>
        </p:nvSpPr>
        <p:spPr>
          <a:xfrm>
            <a:off x="2183362" y="1064863"/>
            <a:ext cx="3433666" cy="307777"/>
          </a:xfrm>
          <a:prstGeom prst="rect">
            <a:avLst/>
          </a:prstGeom>
          <a:noFill/>
        </p:spPr>
        <p:txBody>
          <a:bodyPr wrap="square" rtlCol="0">
            <a:spAutoFit/>
          </a:bodyPr>
          <a:lstStyle/>
          <a:p>
            <a:r>
              <a:rPr lang="en-US" sz="1400" dirty="0">
                <a:solidFill>
                  <a:schemeClr val="bg1"/>
                </a:solidFill>
                <a:latin typeface="Arial" panose="020B0604020202020204" pitchFamily="34" charset="0"/>
                <a:cs typeface="Arial" panose="020B0604020202020204" pitchFamily="34" charset="0"/>
              </a:rPr>
              <a:t>FINANCE_1 </a:t>
            </a:r>
            <a:endParaRPr lang="en-IN" sz="1400" dirty="0">
              <a:solidFill>
                <a:schemeClr val="bg1"/>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C84E7D96-5200-97A4-BE3E-27598902469A}"/>
              </a:ext>
            </a:extLst>
          </p:cNvPr>
          <p:cNvSpPr txBox="1"/>
          <p:nvPr/>
        </p:nvSpPr>
        <p:spPr>
          <a:xfrm>
            <a:off x="2183362" y="5386668"/>
            <a:ext cx="3433666" cy="307777"/>
          </a:xfrm>
          <a:prstGeom prst="rect">
            <a:avLst/>
          </a:prstGeom>
          <a:noFill/>
        </p:spPr>
        <p:txBody>
          <a:bodyPr wrap="square" rtlCol="0">
            <a:spAutoFit/>
          </a:bodyPr>
          <a:lstStyle/>
          <a:p>
            <a:r>
              <a:rPr lang="en-US" sz="1400" dirty="0">
                <a:solidFill>
                  <a:schemeClr val="bg1"/>
                </a:solidFill>
                <a:latin typeface="Arial" panose="020B0604020202020204" pitchFamily="34" charset="0"/>
                <a:cs typeface="Arial" panose="020B0604020202020204" pitchFamily="34" charset="0"/>
              </a:rPr>
              <a:t>FINANCE_2 </a:t>
            </a:r>
            <a:endParaRPr lang="en-IN" sz="1400" dirty="0">
              <a:solidFill>
                <a:schemeClr val="bg1"/>
              </a:solidFill>
              <a:latin typeface="Arial" panose="020B0604020202020204" pitchFamily="34" charset="0"/>
              <a:cs typeface="Arial" panose="020B0604020202020204" pitchFamily="34" charset="0"/>
            </a:endParaRPr>
          </a:p>
        </p:txBody>
      </p:sp>
      <p:sp>
        <p:nvSpPr>
          <p:cNvPr id="10" name="Arrow: Right 9">
            <a:extLst>
              <a:ext uri="{FF2B5EF4-FFF2-40B4-BE49-F238E27FC236}">
                <a16:creationId xmlns:a16="http://schemas.microsoft.com/office/drawing/2014/main" id="{C8F24E6C-B506-3356-7742-FC8A5E8EEBC9}"/>
              </a:ext>
            </a:extLst>
          </p:cNvPr>
          <p:cNvSpPr/>
          <p:nvPr/>
        </p:nvSpPr>
        <p:spPr>
          <a:xfrm>
            <a:off x="3336394" y="5392680"/>
            <a:ext cx="528527" cy="30777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Arrow: Right 10">
            <a:extLst>
              <a:ext uri="{FF2B5EF4-FFF2-40B4-BE49-F238E27FC236}">
                <a16:creationId xmlns:a16="http://schemas.microsoft.com/office/drawing/2014/main" id="{C3042AC7-7BFD-BFD6-84E1-66447266820C}"/>
              </a:ext>
            </a:extLst>
          </p:cNvPr>
          <p:cNvSpPr/>
          <p:nvPr/>
        </p:nvSpPr>
        <p:spPr>
          <a:xfrm>
            <a:off x="3336395" y="1061690"/>
            <a:ext cx="528527" cy="30777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925562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Oval 18">
            <a:extLst>
              <a:ext uri="{FF2B5EF4-FFF2-40B4-BE49-F238E27FC236}">
                <a16:creationId xmlns:a16="http://schemas.microsoft.com/office/drawing/2014/main" id="{5F4B8ADB-ADC8-B0AE-F26B-652EB455ED24}"/>
              </a:ext>
            </a:extLst>
          </p:cNvPr>
          <p:cNvSpPr/>
          <p:nvPr/>
        </p:nvSpPr>
        <p:spPr>
          <a:xfrm>
            <a:off x="4207919" y="1307694"/>
            <a:ext cx="741006" cy="751781"/>
          </a:xfrm>
          <a:prstGeom prst="ellipse">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2" name="Rectangle 1">
            <a:extLst>
              <a:ext uri="{FF2B5EF4-FFF2-40B4-BE49-F238E27FC236}">
                <a16:creationId xmlns:a16="http://schemas.microsoft.com/office/drawing/2014/main" id="{15AAA963-F195-5824-540A-93D8B09A6E84}"/>
              </a:ext>
            </a:extLst>
          </p:cNvPr>
          <p:cNvSpPr/>
          <p:nvPr/>
        </p:nvSpPr>
        <p:spPr>
          <a:xfrm>
            <a:off x="54427" y="0"/>
            <a:ext cx="3845769" cy="111967"/>
          </a:xfrm>
          <a:prstGeom prst="rect">
            <a:avLst/>
          </a:prstGeom>
          <a:solidFill>
            <a:srgbClr val="0D3B4F"/>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F08F76D0-16C2-292D-5604-43C6714C89B9}"/>
              </a:ext>
            </a:extLst>
          </p:cNvPr>
          <p:cNvSpPr/>
          <p:nvPr/>
        </p:nvSpPr>
        <p:spPr>
          <a:xfrm>
            <a:off x="4030824" y="0"/>
            <a:ext cx="4260982" cy="111967"/>
          </a:xfrm>
          <a:prstGeom prst="rect">
            <a:avLst/>
          </a:prstGeom>
          <a:solidFill>
            <a:srgbClr val="2A7E7C"/>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C4D207DB-E649-7D81-5EA8-907EB5166A56}"/>
              </a:ext>
            </a:extLst>
          </p:cNvPr>
          <p:cNvSpPr/>
          <p:nvPr/>
        </p:nvSpPr>
        <p:spPr>
          <a:xfrm>
            <a:off x="8397552" y="0"/>
            <a:ext cx="3740022" cy="111967"/>
          </a:xfrm>
          <a:prstGeom prst="rect">
            <a:avLst/>
          </a:prstGeom>
          <a:solidFill>
            <a:srgbClr val="0D3B4F"/>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38C4530D-7CA5-AF4C-ABF9-1FB68C4D3407}"/>
              </a:ext>
            </a:extLst>
          </p:cNvPr>
          <p:cNvSpPr/>
          <p:nvPr/>
        </p:nvSpPr>
        <p:spPr>
          <a:xfrm>
            <a:off x="54426" y="186611"/>
            <a:ext cx="3845769" cy="6578083"/>
          </a:xfrm>
          <a:prstGeom prst="rect">
            <a:avLst/>
          </a:prstGeom>
          <a:solidFill>
            <a:srgbClr val="0D3B4F"/>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6DC5E2A7-DC69-84BB-5605-C4E8AD6B4B6C}"/>
              </a:ext>
            </a:extLst>
          </p:cNvPr>
          <p:cNvSpPr txBox="1"/>
          <p:nvPr/>
        </p:nvSpPr>
        <p:spPr>
          <a:xfrm>
            <a:off x="606321" y="2507315"/>
            <a:ext cx="2864498" cy="1200329"/>
          </a:xfrm>
          <a:prstGeom prst="rect">
            <a:avLst/>
          </a:prstGeom>
          <a:noFill/>
        </p:spPr>
        <p:txBody>
          <a:bodyPr wrap="square" rtlCol="0">
            <a:spAutoFit/>
          </a:bodyPr>
          <a:lstStyle/>
          <a:p>
            <a:r>
              <a:rPr lang="en-US" sz="3600" dirty="0">
                <a:solidFill>
                  <a:schemeClr val="bg1"/>
                </a:solidFill>
              </a:rPr>
              <a:t>KPI’S ADDRESSED</a:t>
            </a:r>
          </a:p>
        </p:txBody>
      </p:sp>
      <p:sp>
        <p:nvSpPr>
          <p:cNvPr id="8" name="TextBox 7">
            <a:extLst>
              <a:ext uri="{FF2B5EF4-FFF2-40B4-BE49-F238E27FC236}">
                <a16:creationId xmlns:a16="http://schemas.microsoft.com/office/drawing/2014/main" id="{14941DF5-7FFB-4D6F-D9B4-89A1887A8039}"/>
              </a:ext>
            </a:extLst>
          </p:cNvPr>
          <p:cNvSpPr txBox="1"/>
          <p:nvPr/>
        </p:nvSpPr>
        <p:spPr>
          <a:xfrm>
            <a:off x="5156721" y="4605409"/>
            <a:ext cx="2489718" cy="523220"/>
          </a:xfrm>
          <a:prstGeom prst="rect">
            <a:avLst/>
          </a:prstGeom>
          <a:noFill/>
        </p:spPr>
        <p:txBody>
          <a:bodyPr wrap="square" rtlCol="0">
            <a:spAutoFit/>
          </a:bodyPr>
          <a:lstStyle/>
          <a:p>
            <a:r>
              <a:rPr lang="en-IN" sz="1400" b="1" dirty="0"/>
              <a:t>KPI 5: Home Ownership by Last Payment Date Stats</a:t>
            </a:r>
          </a:p>
        </p:txBody>
      </p:sp>
      <p:sp>
        <p:nvSpPr>
          <p:cNvPr id="10" name="TextBox 9">
            <a:extLst>
              <a:ext uri="{FF2B5EF4-FFF2-40B4-BE49-F238E27FC236}">
                <a16:creationId xmlns:a16="http://schemas.microsoft.com/office/drawing/2014/main" id="{9DCA39A1-449A-D16E-94AF-EAD201E09B61}"/>
              </a:ext>
            </a:extLst>
          </p:cNvPr>
          <p:cNvSpPr txBox="1"/>
          <p:nvPr/>
        </p:nvSpPr>
        <p:spPr>
          <a:xfrm>
            <a:off x="5156721" y="1421975"/>
            <a:ext cx="2379305" cy="523220"/>
          </a:xfrm>
          <a:prstGeom prst="rect">
            <a:avLst/>
          </a:prstGeom>
          <a:noFill/>
        </p:spPr>
        <p:txBody>
          <a:bodyPr wrap="square" rtlCol="0">
            <a:spAutoFit/>
          </a:bodyPr>
          <a:lstStyle/>
          <a:p>
            <a:r>
              <a:rPr lang="en-IN" sz="1400" b="1" dirty="0"/>
              <a:t>KPI 1: Year Wise Loan   Status</a:t>
            </a:r>
          </a:p>
        </p:txBody>
      </p:sp>
      <p:sp>
        <p:nvSpPr>
          <p:cNvPr id="11" name="TextBox 10">
            <a:extLst>
              <a:ext uri="{FF2B5EF4-FFF2-40B4-BE49-F238E27FC236}">
                <a16:creationId xmlns:a16="http://schemas.microsoft.com/office/drawing/2014/main" id="{FF950CD3-A897-1538-2FA4-B8F3F0A7C755}"/>
              </a:ext>
            </a:extLst>
          </p:cNvPr>
          <p:cNvSpPr txBox="1"/>
          <p:nvPr/>
        </p:nvSpPr>
        <p:spPr>
          <a:xfrm>
            <a:off x="9311953" y="1905506"/>
            <a:ext cx="2202023" cy="738664"/>
          </a:xfrm>
          <a:prstGeom prst="rect">
            <a:avLst/>
          </a:prstGeom>
          <a:noFill/>
        </p:spPr>
        <p:txBody>
          <a:bodyPr wrap="square" rtlCol="0">
            <a:spAutoFit/>
          </a:bodyPr>
          <a:lstStyle/>
          <a:p>
            <a:r>
              <a:rPr lang="en-IN" sz="1400" b="1" dirty="0"/>
              <a:t>KPI 2: Grade &amp; Sub-Grade Wise Revolving Balance</a:t>
            </a:r>
          </a:p>
        </p:txBody>
      </p:sp>
      <p:sp>
        <p:nvSpPr>
          <p:cNvPr id="12" name="TextBox 11">
            <a:extLst>
              <a:ext uri="{FF2B5EF4-FFF2-40B4-BE49-F238E27FC236}">
                <a16:creationId xmlns:a16="http://schemas.microsoft.com/office/drawing/2014/main" id="{F40000CF-33A5-CE33-A29E-03CEC6149C35}"/>
              </a:ext>
            </a:extLst>
          </p:cNvPr>
          <p:cNvSpPr txBox="1"/>
          <p:nvPr/>
        </p:nvSpPr>
        <p:spPr>
          <a:xfrm>
            <a:off x="5156721" y="2865470"/>
            <a:ext cx="2222240" cy="1231106"/>
          </a:xfrm>
          <a:prstGeom prst="rect">
            <a:avLst/>
          </a:prstGeom>
          <a:noFill/>
        </p:spPr>
        <p:txBody>
          <a:bodyPr wrap="square" rtlCol="0">
            <a:spAutoFit/>
          </a:bodyPr>
          <a:lstStyle/>
          <a:p>
            <a:r>
              <a:rPr lang="en-IN" sz="1400" b="1" dirty="0"/>
              <a:t>KPI 3: Total Payment for Verified Status Vs Total Payment for Non-Verified Status</a:t>
            </a:r>
            <a:br>
              <a:rPr lang="en-IN" dirty="0"/>
            </a:br>
            <a:endParaRPr lang="en-IN" dirty="0"/>
          </a:p>
        </p:txBody>
      </p:sp>
      <p:sp>
        <p:nvSpPr>
          <p:cNvPr id="15" name="TextBox 14">
            <a:extLst>
              <a:ext uri="{FF2B5EF4-FFF2-40B4-BE49-F238E27FC236}">
                <a16:creationId xmlns:a16="http://schemas.microsoft.com/office/drawing/2014/main" id="{B75B2C93-A5C1-231D-8535-7934ACEC7D08}"/>
              </a:ext>
            </a:extLst>
          </p:cNvPr>
          <p:cNvSpPr txBox="1"/>
          <p:nvPr/>
        </p:nvSpPr>
        <p:spPr>
          <a:xfrm>
            <a:off x="9362496" y="3834967"/>
            <a:ext cx="2472612" cy="523220"/>
          </a:xfrm>
          <a:prstGeom prst="rect">
            <a:avLst/>
          </a:prstGeom>
          <a:noFill/>
        </p:spPr>
        <p:txBody>
          <a:bodyPr wrap="square" rtlCol="0">
            <a:spAutoFit/>
          </a:bodyPr>
          <a:lstStyle/>
          <a:p>
            <a:r>
              <a:rPr lang="en-IN" sz="1400" b="1" dirty="0"/>
              <a:t>KPI 4: State Wise &amp; Month Wise Loan Status</a:t>
            </a:r>
          </a:p>
        </p:txBody>
      </p:sp>
      <p:pic>
        <p:nvPicPr>
          <p:cNvPr id="18" name="Picture 17" descr="A green check mark with a green arrow&#10;&#10;AI-generated content may be incorrect.">
            <a:extLst>
              <a:ext uri="{FF2B5EF4-FFF2-40B4-BE49-F238E27FC236}">
                <a16:creationId xmlns:a16="http://schemas.microsoft.com/office/drawing/2014/main" id="{9BB3C6F8-9157-D1E5-8ADC-35C2E9FBDF59}"/>
              </a:ext>
            </a:extLst>
          </p:cNvPr>
          <p:cNvPicPr>
            <a:picLocks noChangeAspect="1"/>
          </p:cNvPicPr>
          <p:nvPr/>
        </p:nvPicPr>
        <p:blipFill>
          <a:blip r:embed="rId2">
            <a:duotone>
              <a:prstClr val="black"/>
              <a:schemeClr val="accent3">
                <a:tint val="45000"/>
                <a:satMod val="400000"/>
              </a:schemeClr>
            </a:duotone>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tretch>
            <a:fillRect/>
          </a:stretch>
        </p:blipFill>
        <p:spPr>
          <a:xfrm>
            <a:off x="4363817" y="1516950"/>
            <a:ext cx="429209" cy="333268"/>
          </a:xfrm>
          <a:prstGeom prst="rect">
            <a:avLst/>
          </a:prstGeom>
          <a:solidFill>
            <a:srgbClr val="FFFFFF">
              <a:shade val="85000"/>
            </a:srgbClr>
          </a:solidFill>
          <a:ln w="19050" cap="sq">
            <a:solidFill>
              <a:schemeClr val="bg1"/>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0" name="Oval 19">
            <a:extLst>
              <a:ext uri="{FF2B5EF4-FFF2-40B4-BE49-F238E27FC236}">
                <a16:creationId xmlns:a16="http://schemas.microsoft.com/office/drawing/2014/main" id="{30D6DAEB-7A7E-C16A-E00B-451FAE260A55}"/>
              </a:ext>
            </a:extLst>
          </p:cNvPr>
          <p:cNvSpPr/>
          <p:nvPr/>
        </p:nvSpPr>
        <p:spPr>
          <a:xfrm>
            <a:off x="4237975" y="2955863"/>
            <a:ext cx="741006" cy="751781"/>
          </a:xfrm>
          <a:prstGeom prst="ellipse">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21" name="Oval 20">
            <a:extLst>
              <a:ext uri="{FF2B5EF4-FFF2-40B4-BE49-F238E27FC236}">
                <a16:creationId xmlns:a16="http://schemas.microsoft.com/office/drawing/2014/main" id="{80EEA302-50E8-83CA-A6AC-6EFBFCBC6E38}"/>
              </a:ext>
            </a:extLst>
          </p:cNvPr>
          <p:cNvSpPr/>
          <p:nvPr/>
        </p:nvSpPr>
        <p:spPr>
          <a:xfrm>
            <a:off x="4237975" y="4508895"/>
            <a:ext cx="741006" cy="751781"/>
          </a:xfrm>
          <a:prstGeom prst="ellipse">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22" name="Oval 21">
            <a:extLst>
              <a:ext uri="{FF2B5EF4-FFF2-40B4-BE49-F238E27FC236}">
                <a16:creationId xmlns:a16="http://schemas.microsoft.com/office/drawing/2014/main" id="{42972F70-5B58-F529-5B4E-564BC368F2DD}"/>
              </a:ext>
            </a:extLst>
          </p:cNvPr>
          <p:cNvSpPr/>
          <p:nvPr/>
        </p:nvSpPr>
        <p:spPr>
          <a:xfrm>
            <a:off x="8366452" y="1854713"/>
            <a:ext cx="741006" cy="751781"/>
          </a:xfrm>
          <a:prstGeom prst="ellipse">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
        <p:nvSpPr>
          <p:cNvPr id="23" name="Oval 22">
            <a:extLst>
              <a:ext uri="{FF2B5EF4-FFF2-40B4-BE49-F238E27FC236}">
                <a16:creationId xmlns:a16="http://schemas.microsoft.com/office/drawing/2014/main" id="{500D8D41-67B7-D4C2-8AFB-1A16E2C27274}"/>
              </a:ext>
            </a:extLst>
          </p:cNvPr>
          <p:cNvSpPr/>
          <p:nvPr/>
        </p:nvSpPr>
        <p:spPr>
          <a:xfrm>
            <a:off x="8397552" y="3720686"/>
            <a:ext cx="741006" cy="751781"/>
          </a:xfrm>
          <a:prstGeom prst="ellipse">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pic>
        <p:nvPicPr>
          <p:cNvPr id="25" name="Picture 24">
            <a:extLst>
              <a:ext uri="{FF2B5EF4-FFF2-40B4-BE49-F238E27FC236}">
                <a16:creationId xmlns:a16="http://schemas.microsoft.com/office/drawing/2014/main" id="{6830442C-F4D8-BDD6-127F-35E76D4C1643}"/>
              </a:ext>
            </a:extLst>
          </p:cNvPr>
          <p:cNvPicPr>
            <a:picLocks noChangeAspect="1"/>
          </p:cNvPicPr>
          <p:nvPr/>
        </p:nvPicPr>
        <p:blipFill>
          <a:blip r:embed="rId4">
            <a:duotone>
              <a:prstClr val="black"/>
              <a:schemeClr val="accent3">
                <a:tint val="45000"/>
                <a:satMod val="400000"/>
              </a:schemeClr>
            </a:duotone>
            <a:alphaModFix amt="85000"/>
            <a:extLst>
              <a:ext uri="{BEBA8EAE-BF5A-486C-A8C5-ECC9F3942E4B}">
                <a14:imgProps xmlns:a14="http://schemas.microsoft.com/office/drawing/2010/main">
                  <a14:imgLayer r:embed="rId5">
                    <a14:imgEffect>
                      <a14:artisticCrisscrossEtching/>
                    </a14:imgEffect>
                    <a14:imgEffect>
                      <a14:colorTemperature colorTemp="11200"/>
                    </a14:imgEffect>
                  </a14:imgLayer>
                </a14:imgProps>
              </a:ext>
              <a:ext uri="{28A0092B-C50C-407E-A947-70E740481C1C}">
                <a14:useLocalDpi xmlns:a14="http://schemas.microsoft.com/office/drawing/2010/main" val="0"/>
              </a:ext>
            </a:extLst>
          </a:blip>
          <a:stretch>
            <a:fillRect/>
          </a:stretch>
        </p:blipFill>
        <p:spPr>
          <a:xfrm>
            <a:off x="4363817" y="4643656"/>
            <a:ext cx="491646" cy="446726"/>
          </a:xfrm>
          <a:prstGeom prst="rect">
            <a:avLst/>
          </a:prstGeom>
          <a:solidFill>
            <a:srgbClr val="FFFFFF">
              <a:shade val="85000"/>
            </a:srgbClr>
          </a:solidFill>
          <a:ln w="19050" cap="sq">
            <a:solidFill>
              <a:schemeClr val="bg1"/>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7" name="Picture 26">
            <a:extLst>
              <a:ext uri="{FF2B5EF4-FFF2-40B4-BE49-F238E27FC236}">
                <a16:creationId xmlns:a16="http://schemas.microsoft.com/office/drawing/2014/main" id="{6650964F-402A-0656-F9CD-877E3A6DD0FC}"/>
              </a:ext>
            </a:extLst>
          </p:cNvPr>
          <p:cNvPicPr>
            <a:picLocks noChangeAspect="1"/>
          </p:cNvPicPr>
          <p:nvPr/>
        </p:nvPicPr>
        <p:blipFill>
          <a:blip r:embed="rId6">
            <a:duotone>
              <a:prstClr val="black"/>
              <a:schemeClr val="accent3">
                <a:tint val="45000"/>
                <a:satMod val="400000"/>
              </a:schemeClr>
            </a:duotone>
            <a:alphaModFix amt="70000"/>
            <a:extLst>
              <a:ext uri="{28A0092B-C50C-407E-A947-70E740481C1C}">
                <a14:useLocalDpi xmlns:a14="http://schemas.microsoft.com/office/drawing/2010/main" val="0"/>
              </a:ext>
            </a:extLst>
          </a:blip>
          <a:stretch>
            <a:fillRect/>
          </a:stretch>
        </p:blipFill>
        <p:spPr>
          <a:xfrm>
            <a:off x="4363817" y="3130845"/>
            <a:ext cx="463338" cy="401816"/>
          </a:xfrm>
          <a:prstGeom prst="rect">
            <a:avLst/>
          </a:prstGeom>
          <a:ln w="19050">
            <a:solidFill>
              <a:schemeClr val="bg1"/>
            </a:solidFill>
          </a:ln>
        </p:spPr>
      </p:pic>
      <p:pic>
        <p:nvPicPr>
          <p:cNvPr id="29" name="Picture 28" descr="A black and white image of a meter with a dollar sign&#10;&#10;AI-generated content may be incorrect.">
            <a:extLst>
              <a:ext uri="{FF2B5EF4-FFF2-40B4-BE49-F238E27FC236}">
                <a16:creationId xmlns:a16="http://schemas.microsoft.com/office/drawing/2014/main" id="{F707D743-5479-40BA-92A1-5BF2B679FA00}"/>
              </a:ext>
            </a:extLst>
          </p:cNvPr>
          <p:cNvPicPr>
            <a:picLocks noChangeAspect="1"/>
          </p:cNvPicPr>
          <p:nvPr/>
        </p:nvPicPr>
        <p:blipFill>
          <a:blip r:embed="rId7">
            <a:duotone>
              <a:prstClr val="black"/>
              <a:schemeClr val="accent3">
                <a:tint val="45000"/>
                <a:satMod val="400000"/>
              </a:schemeClr>
            </a:duotone>
            <a:alphaModFix amt="70000"/>
            <a:extLst>
              <a:ext uri="{28A0092B-C50C-407E-A947-70E740481C1C}">
                <a14:useLocalDpi xmlns:a14="http://schemas.microsoft.com/office/drawing/2010/main" val="0"/>
              </a:ext>
            </a:extLst>
          </a:blip>
          <a:stretch>
            <a:fillRect/>
          </a:stretch>
        </p:blipFill>
        <p:spPr>
          <a:xfrm>
            <a:off x="8545597" y="2044006"/>
            <a:ext cx="382715" cy="333267"/>
          </a:xfrm>
          <a:prstGeom prst="rect">
            <a:avLst/>
          </a:prstGeom>
          <a:ln w="19050">
            <a:solidFill>
              <a:schemeClr val="bg1"/>
            </a:solidFill>
          </a:ln>
        </p:spPr>
      </p:pic>
      <p:pic>
        <p:nvPicPr>
          <p:cNvPr id="31" name="Picture 30" descr="A green dollar bills with a white dollar sign&#10;&#10;AI-generated content may be incorrect.">
            <a:extLst>
              <a:ext uri="{FF2B5EF4-FFF2-40B4-BE49-F238E27FC236}">
                <a16:creationId xmlns:a16="http://schemas.microsoft.com/office/drawing/2014/main" id="{2B7A7E58-A4D4-44F8-4042-E93D96542112}"/>
              </a:ext>
            </a:extLst>
          </p:cNvPr>
          <p:cNvPicPr>
            <a:picLocks noChangeAspect="1"/>
          </p:cNvPicPr>
          <p:nvPr/>
        </p:nvPicPr>
        <p:blipFill>
          <a:blip r:embed="rId8">
            <a:duotone>
              <a:prstClr val="black"/>
              <a:schemeClr val="accent3">
                <a:tint val="45000"/>
                <a:satMod val="400000"/>
              </a:schemeClr>
            </a:duotone>
            <a:extLst>
              <a:ext uri="{28A0092B-C50C-407E-A947-70E740481C1C}">
                <a14:useLocalDpi xmlns:a14="http://schemas.microsoft.com/office/drawing/2010/main" val="0"/>
              </a:ext>
            </a:extLst>
          </a:blip>
          <a:stretch>
            <a:fillRect/>
          </a:stretch>
        </p:blipFill>
        <p:spPr>
          <a:xfrm>
            <a:off x="8545597" y="3903487"/>
            <a:ext cx="459289" cy="386178"/>
          </a:xfrm>
          <a:prstGeom prst="rect">
            <a:avLst/>
          </a:prstGeom>
          <a:ln w="19050">
            <a:solidFill>
              <a:schemeClr val="bg1"/>
            </a:solidFill>
          </a:ln>
        </p:spPr>
      </p:pic>
    </p:spTree>
    <p:extLst>
      <p:ext uri="{BB962C8B-B14F-4D97-AF65-F5344CB8AC3E}">
        <p14:creationId xmlns:p14="http://schemas.microsoft.com/office/powerpoint/2010/main" val="27484210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B9E23-B365-3B6E-DB76-9F18860BB50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8F82B8A-F45D-B426-96C1-4529CC8B322F}"/>
              </a:ext>
            </a:extLst>
          </p:cNvPr>
          <p:cNvSpPr/>
          <p:nvPr/>
        </p:nvSpPr>
        <p:spPr>
          <a:xfrm>
            <a:off x="54427" y="0"/>
            <a:ext cx="3845769" cy="111967"/>
          </a:xfrm>
          <a:prstGeom prst="rect">
            <a:avLst/>
          </a:prstGeom>
          <a:solidFill>
            <a:srgbClr val="0D3B4F"/>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879B5453-915B-2C62-379B-E9D1A71898D4}"/>
              </a:ext>
            </a:extLst>
          </p:cNvPr>
          <p:cNvSpPr/>
          <p:nvPr/>
        </p:nvSpPr>
        <p:spPr>
          <a:xfrm>
            <a:off x="4030824" y="0"/>
            <a:ext cx="4260982" cy="111967"/>
          </a:xfrm>
          <a:prstGeom prst="rect">
            <a:avLst/>
          </a:prstGeom>
          <a:solidFill>
            <a:srgbClr val="2A7E7C"/>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0400AA7C-9797-1411-C76F-7F6422618AE9}"/>
              </a:ext>
            </a:extLst>
          </p:cNvPr>
          <p:cNvSpPr/>
          <p:nvPr/>
        </p:nvSpPr>
        <p:spPr>
          <a:xfrm>
            <a:off x="8397552" y="0"/>
            <a:ext cx="3740022" cy="111967"/>
          </a:xfrm>
          <a:prstGeom prst="rect">
            <a:avLst/>
          </a:prstGeom>
          <a:solidFill>
            <a:srgbClr val="0D3B4F"/>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E55384E4-5040-A570-E559-B1C9DCCA4826}"/>
              </a:ext>
            </a:extLst>
          </p:cNvPr>
          <p:cNvSpPr/>
          <p:nvPr/>
        </p:nvSpPr>
        <p:spPr>
          <a:xfrm>
            <a:off x="54427" y="163285"/>
            <a:ext cx="12083146" cy="6386805"/>
          </a:xfrm>
          <a:prstGeom prst="rect">
            <a:avLst/>
          </a:prstGeom>
          <a:solidFill>
            <a:srgbClr val="0D3B4F"/>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0A4BA23C-CBB5-6959-2A2D-C294E199A821}"/>
              </a:ext>
            </a:extLst>
          </p:cNvPr>
          <p:cNvSpPr txBox="1"/>
          <p:nvPr/>
        </p:nvSpPr>
        <p:spPr>
          <a:xfrm>
            <a:off x="1824135" y="1853614"/>
            <a:ext cx="8999375" cy="2677656"/>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solidFill>
                  <a:schemeClr val="bg1"/>
                </a:solidFill>
              </a:rPr>
              <a:t>The objective of this project is to analyze a bank loan dataset to understand lending patterns, repayment behavior, credit risk, customer distribution, and financial performance.</a:t>
            </a:r>
          </a:p>
          <a:p>
            <a:pPr algn="just"/>
            <a:endParaRPr lang="en-US" sz="2400" dirty="0">
              <a:solidFill>
                <a:schemeClr val="bg1"/>
              </a:solidFill>
            </a:endParaRPr>
          </a:p>
          <a:p>
            <a:pPr marL="342900" indent="-342900" algn="just">
              <a:buFont typeface="Arial" panose="020B0604020202020204" pitchFamily="34" charset="0"/>
              <a:buChar char="•"/>
            </a:pPr>
            <a:r>
              <a:rPr lang="en-US" sz="2400" dirty="0">
                <a:solidFill>
                  <a:schemeClr val="bg1"/>
                </a:solidFill>
              </a:rPr>
              <a:t>By using Excel, SQL, Power BI, and Tableau, we aim to clean the raw data, transform it into meaningful insights, and visualize key trends that can support effective decision-making.</a:t>
            </a:r>
          </a:p>
        </p:txBody>
      </p:sp>
      <p:sp>
        <p:nvSpPr>
          <p:cNvPr id="13" name="TextBox 12">
            <a:extLst>
              <a:ext uri="{FF2B5EF4-FFF2-40B4-BE49-F238E27FC236}">
                <a16:creationId xmlns:a16="http://schemas.microsoft.com/office/drawing/2014/main" id="{70778958-48A8-C6A6-FC57-C8FFCEFFCF6A}"/>
              </a:ext>
            </a:extLst>
          </p:cNvPr>
          <p:cNvSpPr txBox="1"/>
          <p:nvPr/>
        </p:nvSpPr>
        <p:spPr>
          <a:xfrm>
            <a:off x="1296954" y="763688"/>
            <a:ext cx="7371185" cy="769441"/>
          </a:xfrm>
          <a:prstGeom prst="rect">
            <a:avLst/>
          </a:prstGeom>
          <a:noFill/>
        </p:spPr>
        <p:txBody>
          <a:bodyPr wrap="square" rtlCol="0">
            <a:spAutoFit/>
          </a:bodyPr>
          <a:lstStyle/>
          <a:p>
            <a:r>
              <a:rPr lang="en-IN" sz="4400" dirty="0">
                <a:solidFill>
                  <a:schemeClr val="bg1"/>
                </a:solidFill>
                <a:latin typeface="Georgia" panose="02040502050405020303" pitchFamily="18" charset="0"/>
              </a:rPr>
              <a:t>PROBLEM STATEMENT</a:t>
            </a:r>
          </a:p>
        </p:txBody>
      </p:sp>
    </p:spTree>
    <p:extLst>
      <p:ext uri="{BB962C8B-B14F-4D97-AF65-F5344CB8AC3E}">
        <p14:creationId xmlns:p14="http://schemas.microsoft.com/office/powerpoint/2010/main" val="6779817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C20E3-82F4-C593-D4A4-4F0CF8BA9AA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973BC52-860B-A096-186E-BAADC951F881}"/>
              </a:ext>
            </a:extLst>
          </p:cNvPr>
          <p:cNvSpPr/>
          <p:nvPr/>
        </p:nvSpPr>
        <p:spPr>
          <a:xfrm>
            <a:off x="54427" y="0"/>
            <a:ext cx="3845769" cy="111967"/>
          </a:xfrm>
          <a:prstGeom prst="rect">
            <a:avLst/>
          </a:prstGeom>
          <a:solidFill>
            <a:srgbClr val="0D3B4F"/>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19440DD6-77C3-BDA5-B58E-920EBD2528F6}"/>
              </a:ext>
            </a:extLst>
          </p:cNvPr>
          <p:cNvSpPr/>
          <p:nvPr/>
        </p:nvSpPr>
        <p:spPr>
          <a:xfrm>
            <a:off x="4030824" y="0"/>
            <a:ext cx="4260982" cy="111967"/>
          </a:xfrm>
          <a:prstGeom prst="rect">
            <a:avLst/>
          </a:prstGeom>
          <a:solidFill>
            <a:srgbClr val="2A7E7C"/>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FDB49402-2339-3874-2718-E6973023F529}"/>
              </a:ext>
            </a:extLst>
          </p:cNvPr>
          <p:cNvSpPr/>
          <p:nvPr/>
        </p:nvSpPr>
        <p:spPr>
          <a:xfrm>
            <a:off x="8397552" y="0"/>
            <a:ext cx="3740022" cy="111967"/>
          </a:xfrm>
          <a:prstGeom prst="rect">
            <a:avLst/>
          </a:prstGeom>
          <a:solidFill>
            <a:srgbClr val="0D3B4F"/>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DAD90618-CEA1-B0D2-A6AE-10A30A997E9A}"/>
              </a:ext>
            </a:extLst>
          </p:cNvPr>
          <p:cNvSpPr/>
          <p:nvPr/>
        </p:nvSpPr>
        <p:spPr>
          <a:xfrm>
            <a:off x="54427" y="163285"/>
            <a:ext cx="12083146" cy="6386805"/>
          </a:xfrm>
          <a:prstGeom prst="rect">
            <a:avLst/>
          </a:prstGeom>
          <a:solidFill>
            <a:srgbClr val="0D3B4F"/>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E2E5D3FC-B192-22D4-0925-F19D7F20A881}"/>
              </a:ext>
            </a:extLst>
          </p:cNvPr>
          <p:cNvSpPr txBox="1"/>
          <p:nvPr/>
        </p:nvSpPr>
        <p:spPr>
          <a:xfrm>
            <a:off x="1296954" y="1813047"/>
            <a:ext cx="8999375" cy="3970318"/>
          </a:xfrm>
          <a:prstGeom prst="rect">
            <a:avLst/>
          </a:prstGeom>
          <a:noFill/>
        </p:spPr>
        <p:txBody>
          <a:bodyPr wrap="square" rtlCol="0">
            <a:spAutoFit/>
          </a:bodyPr>
          <a:lstStyle/>
          <a:p>
            <a:pPr algn="just"/>
            <a:r>
              <a:rPr lang="en-US" dirty="0">
                <a:solidFill>
                  <a:schemeClr val="accent4">
                    <a:lumMod val="40000"/>
                    <a:lumOff val="60000"/>
                  </a:schemeClr>
                </a:solidFill>
              </a:rPr>
              <a:t>STEPS TAKEN TO SOLVE THE PROBLEM</a:t>
            </a:r>
          </a:p>
          <a:p>
            <a:pPr algn="just"/>
            <a:endParaRPr lang="en-US" dirty="0">
              <a:solidFill>
                <a:schemeClr val="bg1"/>
              </a:solidFill>
            </a:endParaRPr>
          </a:p>
          <a:p>
            <a:r>
              <a:rPr lang="en-US" b="1" dirty="0">
                <a:solidFill>
                  <a:schemeClr val="bg1"/>
                </a:solidFill>
              </a:rPr>
              <a:t>1️⃣ Data Understanding</a:t>
            </a:r>
          </a:p>
          <a:p>
            <a:pPr marL="285750" indent="-285750">
              <a:buFont typeface="Arial" panose="020B0604020202020204" pitchFamily="34" charset="0"/>
              <a:buChar char="•"/>
            </a:pPr>
            <a:r>
              <a:rPr lang="en-US" dirty="0">
                <a:solidFill>
                  <a:schemeClr val="bg1"/>
                </a:solidFill>
              </a:rPr>
              <a:t>Studied Finance_1 and Finance_2 datasets</a:t>
            </a:r>
          </a:p>
          <a:p>
            <a:pPr marL="285750" indent="-285750">
              <a:buFont typeface="Arial" panose="020B0604020202020204" pitchFamily="34" charset="0"/>
              <a:buChar char="•"/>
            </a:pPr>
            <a:r>
              <a:rPr lang="en-US" dirty="0">
                <a:solidFill>
                  <a:schemeClr val="bg1"/>
                </a:solidFill>
              </a:rPr>
              <a:t>Understood column definitions and missing values</a:t>
            </a:r>
          </a:p>
          <a:p>
            <a:pPr marL="285750" indent="-285750">
              <a:buFont typeface="Arial" panose="020B0604020202020204" pitchFamily="34" charset="0"/>
              <a:buChar char="•"/>
            </a:pPr>
            <a:r>
              <a:rPr lang="en-US" dirty="0">
                <a:solidFill>
                  <a:schemeClr val="bg1"/>
                </a:solidFill>
              </a:rPr>
              <a:t>Identified data quality issues</a:t>
            </a:r>
          </a:p>
          <a:p>
            <a:endParaRPr lang="en-US" dirty="0">
              <a:solidFill>
                <a:schemeClr val="bg1"/>
              </a:solidFill>
            </a:endParaRPr>
          </a:p>
          <a:p>
            <a:r>
              <a:rPr lang="en-IN" b="1" dirty="0">
                <a:solidFill>
                  <a:schemeClr val="bg1"/>
                </a:solidFill>
              </a:rPr>
              <a:t>2️⃣ Data Cleaning (Excel + SQL)</a:t>
            </a:r>
          </a:p>
          <a:p>
            <a:pPr marL="285750" indent="-285750">
              <a:buFont typeface="Arial" panose="020B0604020202020204" pitchFamily="34" charset="0"/>
              <a:buChar char="•"/>
            </a:pPr>
            <a:r>
              <a:rPr lang="en-IN" dirty="0">
                <a:solidFill>
                  <a:schemeClr val="bg1"/>
                </a:solidFill>
              </a:rPr>
              <a:t>Removed duplicates</a:t>
            </a:r>
          </a:p>
          <a:p>
            <a:pPr marL="285750" indent="-285750">
              <a:buFont typeface="Arial" panose="020B0604020202020204" pitchFamily="34" charset="0"/>
              <a:buChar char="•"/>
            </a:pPr>
            <a:r>
              <a:rPr lang="en-IN" dirty="0">
                <a:solidFill>
                  <a:schemeClr val="bg1"/>
                </a:solidFill>
              </a:rPr>
              <a:t>Standardized numeric formats (</a:t>
            </a:r>
            <a:r>
              <a:rPr lang="en-IN" dirty="0" err="1">
                <a:solidFill>
                  <a:schemeClr val="bg1"/>
                </a:solidFill>
              </a:rPr>
              <a:t>int_rate</a:t>
            </a:r>
            <a:r>
              <a:rPr lang="en-IN" dirty="0">
                <a:solidFill>
                  <a:schemeClr val="bg1"/>
                </a:solidFill>
              </a:rPr>
              <a:t>, </a:t>
            </a:r>
            <a:r>
              <a:rPr lang="en-IN" dirty="0" err="1">
                <a:solidFill>
                  <a:schemeClr val="bg1"/>
                </a:solidFill>
              </a:rPr>
              <a:t>revol_util</a:t>
            </a:r>
            <a:r>
              <a:rPr lang="en-IN" dirty="0">
                <a:solidFill>
                  <a:schemeClr val="bg1"/>
                </a:solidFill>
              </a:rPr>
              <a:t>, </a:t>
            </a:r>
            <a:r>
              <a:rPr lang="en-IN" dirty="0" err="1">
                <a:solidFill>
                  <a:schemeClr val="bg1"/>
                </a:solidFill>
              </a:rPr>
              <a:t>emp_length</a:t>
            </a:r>
            <a:r>
              <a:rPr lang="en-IN" dirty="0">
                <a:solidFill>
                  <a:schemeClr val="bg1"/>
                </a:solidFill>
              </a:rPr>
              <a:t>, term)</a:t>
            </a:r>
          </a:p>
          <a:p>
            <a:pPr marL="285750" indent="-285750">
              <a:buFont typeface="Arial" panose="020B0604020202020204" pitchFamily="34" charset="0"/>
              <a:buChar char="•"/>
            </a:pPr>
            <a:r>
              <a:rPr lang="en-IN" dirty="0">
                <a:solidFill>
                  <a:schemeClr val="bg1"/>
                </a:solidFill>
              </a:rPr>
              <a:t>Corrected inconsistent text categories</a:t>
            </a:r>
          </a:p>
          <a:p>
            <a:pPr marL="285750" indent="-285750">
              <a:buFont typeface="Arial" panose="020B0604020202020204" pitchFamily="34" charset="0"/>
              <a:buChar char="•"/>
            </a:pPr>
            <a:r>
              <a:rPr lang="en-IN" dirty="0">
                <a:solidFill>
                  <a:schemeClr val="bg1"/>
                </a:solidFill>
              </a:rPr>
              <a:t>Fixed date formats</a:t>
            </a:r>
          </a:p>
          <a:p>
            <a:pPr marL="285750" indent="-285750">
              <a:buFont typeface="Arial" panose="020B0604020202020204" pitchFamily="34" charset="0"/>
              <a:buChar char="•"/>
            </a:pPr>
            <a:r>
              <a:rPr lang="en-IN" dirty="0">
                <a:solidFill>
                  <a:schemeClr val="bg1"/>
                </a:solidFill>
              </a:rPr>
              <a:t>Converted percentage/text fields into numeric form</a:t>
            </a:r>
          </a:p>
          <a:p>
            <a:pPr algn="just"/>
            <a:endParaRPr lang="en-US" dirty="0">
              <a:solidFill>
                <a:schemeClr val="bg1"/>
              </a:solidFill>
            </a:endParaRPr>
          </a:p>
        </p:txBody>
      </p:sp>
      <p:sp>
        <p:nvSpPr>
          <p:cNvPr id="13" name="TextBox 12">
            <a:extLst>
              <a:ext uri="{FF2B5EF4-FFF2-40B4-BE49-F238E27FC236}">
                <a16:creationId xmlns:a16="http://schemas.microsoft.com/office/drawing/2014/main" id="{01D0914C-E7EF-A5A0-952B-677916A90A52}"/>
              </a:ext>
            </a:extLst>
          </p:cNvPr>
          <p:cNvSpPr txBox="1"/>
          <p:nvPr/>
        </p:nvSpPr>
        <p:spPr>
          <a:xfrm>
            <a:off x="1296954" y="763688"/>
            <a:ext cx="7501813" cy="769441"/>
          </a:xfrm>
          <a:prstGeom prst="rect">
            <a:avLst/>
          </a:prstGeom>
          <a:noFill/>
        </p:spPr>
        <p:txBody>
          <a:bodyPr wrap="square" rtlCol="0">
            <a:spAutoFit/>
          </a:bodyPr>
          <a:lstStyle/>
          <a:p>
            <a:r>
              <a:rPr lang="en-IN" sz="4400" dirty="0">
                <a:solidFill>
                  <a:schemeClr val="bg1"/>
                </a:solidFill>
                <a:latin typeface="Georgia Pro" panose="02040502050405020303" pitchFamily="18" charset="0"/>
              </a:rPr>
              <a:t>PROJECT METHODOLOGY</a:t>
            </a:r>
          </a:p>
        </p:txBody>
      </p:sp>
    </p:spTree>
    <p:extLst>
      <p:ext uri="{BB962C8B-B14F-4D97-AF65-F5344CB8AC3E}">
        <p14:creationId xmlns:p14="http://schemas.microsoft.com/office/powerpoint/2010/main" val="23145634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A923D-AA7F-24DE-966F-04582AE11EE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4130EC2-59FE-80F5-7ACE-51AE2F5AE55D}"/>
              </a:ext>
            </a:extLst>
          </p:cNvPr>
          <p:cNvSpPr/>
          <p:nvPr/>
        </p:nvSpPr>
        <p:spPr>
          <a:xfrm>
            <a:off x="54427" y="0"/>
            <a:ext cx="3845769" cy="111967"/>
          </a:xfrm>
          <a:prstGeom prst="rect">
            <a:avLst/>
          </a:prstGeom>
          <a:solidFill>
            <a:srgbClr val="0D3B4F"/>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64B3CEEC-13F5-5F86-FDE4-9873B3609AD3}"/>
              </a:ext>
            </a:extLst>
          </p:cNvPr>
          <p:cNvSpPr/>
          <p:nvPr/>
        </p:nvSpPr>
        <p:spPr>
          <a:xfrm>
            <a:off x="4030824" y="0"/>
            <a:ext cx="4260982" cy="111967"/>
          </a:xfrm>
          <a:prstGeom prst="rect">
            <a:avLst/>
          </a:prstGeom>
          <a:solidFill>
            <a:srgbClr val="2A7E7C"/>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7E293807-8CF3-D8FB-5A9E-F7C424A288DE}"/>
              </a:ext>
            </a:extLst>
          </p:cNvPr>
          <p:cNvSpPr/>
          <p:nvPr/>
        </p:nvSpPr>
        <p:spPr>
          <a:xfrm>
            <a:off x="8397552" y="0"/>
            <a:ext cx="3740022" cy="111967"/>
          </a:xfrm>
          <a:prstGeom prst="rect">
            <a:avLst/>
          </a:prstGeom>
          <a:solidFill>
            <a:srgbClr val="0D3B4F"/>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B11E05D0-53C1-823E-91BF-28367D3793E9}"/>
              </a:ext>
            </a:extLst>
          </p:cNvPr>
          <p:cNvSpPr/>
          <p:nvPr/>
        </p:nvSpPr>
        <p:spPr>
          <a:xfrm>
            <a:off x="54427" y="163285"/>
            <a:ext cx="12083146" cy="6629401"/>
          </a:xfrm>
          <a:prstGeom prst="rect">
            <a:avLst/>
          </a:prstGeom>
          <a:solidFill>
            <a:srgbClr val="0D3B4F"/>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E1D92BAF-6E89-976C-66E4-712CC48F310A}"/>
              </a:ext>
            </a:extLst>
          </p:cNvPr>
          <p:cNvSpPr txBox="1"/>
          <p:nvPr/>
        </p:nvSpPr>
        <p:spPr>
          <a:xfrm>
            <a:off x="1193543" y="307910"/>
            <a:ext cx="8999375" cy="6370975"/>
          </a:xfrm>
          <a:prstGeom prst="rect">
            <a:avLst/>
          </a:prstGeom>
          <a:noFill/>
        </p:spPr>
        <p:txBody>
          <a:bodyPr wrap="square" rtlCol="0">
            <a:spAutoFit/>
          </a:bodyPr>
          <a:lstStyle/>
          <a:p>
            <a:r>
              <a:rPr lang="en-US" sz="1700" b="1" dirty="0">
                <a:solidFill>
                  <a:schemeClr val="bg1"/>
                </a:solidFill>
              </a:rPr>
              <a:t>3️⃣ Data Transformation</a:t>
            </a:r>
          </a:p>
          <a:p>
            <a:pPr marL="285750" indent="-285750">
              <a:buFont typeface="Arial" panose="020B0604020202020204" pitchFamily="34" charset="0"/>
              <a:buChar char="•"/>
            </a:pPr>
            <a:r>
              <a:rPr lang="en-US" sz="1700" dirty="0">
                <a:solidFill>
                  <a:schemeClr val="bg1"/>
                </a:solidFill>
              </a:rPr>
              <a:t>Merged Finance_1 and Finance_2</a:t>
            </a:r>
          </a:p>
          <a:p>
            <a:pPr marL="285750" indent="-285750">
              <a:buFont typeface="Arial" panose="020B0604020202020204" pitchFamily="34" charset="0"/>
              <a:buChar char="•"/>
            </a:pPr>
            <a:r>
              <a:rPr lang="en-US" sz="1700" dirty="0">
                <a:solidFill>
                  <a:schemeClr val="bg1"/>
                </a:solidFill>
              </a:rPr>
              <a:t>Extracted year, month from issue date</a:t>
            </a:r>
          </a:p>
          <a:p>
            <a:pPr marL="285750" indent="-285750">
              <a:buFont typeface="Arial" panose="020B0604020202020204" pitchFamily="34" charset="0"/>
              <a:buChar char="•"/>
            </a:pPr>
            <a:r>
              <a:rPr lang="en-US" sz="1700" dirty="0">
                <a:solidFill>
                  <a:schemeClr val="bg1"/>
                </a:solidFill>
              </a:rPr>
              <a:t>Calculated new fields</a:t>
            </a:r>
          </a:p>
          <a:p>
            <a:pPr marL="285750" indent="-285750">
              <a:buFont typeface="Arial" panose="020B0604020202020204" pitchFamily="34" charset="0"/>
              <a:buChar char="•"/>
            </a:pPr>
            <a:r>
              <a:rPr lang="en-US" sz="1700" dirty="0">
                <a:solidFill>
                  <a:schemeClr val="bg1"/>
                </a:solidFill>
              </a:rPr>
              <a:t>Prepared clean dataset for dashboarding</a:t>
            </a:r>
          </a:p>
          <a:p>
            <a:endParaRPr lang="en-US" sz="1700" dirty="0">
              <a:solidFill>
                <a:schemeClr val="bg1"/>
              </a:solidFill>
            </a:endParaRPr>
          </a:p>
          <a:p>
            <a:r>
              <a:rPr lang="en-US" sz="1700" b="1" dirty="0">
                <a:solidFill>
                  <a:schemeClr val="bg1"/>
                </a:solidFill>
              </a:rPr>
              <a:t>4️⃣ SQL Query Development</a:t>
            </a:r>
          </a:p>
          <a:p>
            <a:pPr marL="285750" indent="-285750">
              <a:buFont typeface="Arial" panose="020B0604020202020204" pitchFamily="34" charset="0"/>
              <a:buChar char="•"/>
            </a:pPr>
            <a:r>
              <a:rPr lang="en-US" sz="1700" dirty="0">
                <a:solidFill>
                  <a:schemeClr val="bg1"/>
                </a:solidFill>
              </a:rPr>
              <a:t>Year-wise loan amount</a:t>
            </a:r>
          </a:p>
          <a:p>
            <a:pPr marL="285750" indent="-285750">
              <a:buFont typeface="Arial" panose="020B0604020202020204" pitchFamily="34" charset="0"/>
              <a:buChar char="•"/>
            </a:pPr>
            <a:r>
              <a:rPr lang="en-US" sz="1700" dirty="0">
                <a:solidFill>
                  <a:schemeClr val="bg1"/>
                </a:solidFill>
              </a:rPr>
              <a:t>Verification status vs total payment</a:t>
            </a:r>
          </a:p>
          <a:p>
            <a:pPr marL="285750" indent="-285750">
              <a:buFont typeface="Arial" panose="020B0604020202020204" pitchFamily="34" charset="0"/>
              <a:buChar char="•"/>
            </a:pPr>
            <a:r>
              <a:rPr lang="en-US" sz="1700" dirty="0">
                <a:solidFill>
                  <a:schemeClr val="bg1"/>
                </a:solidFill>
              </a:rPr>
              <a:t>Grade &amp; sub-grade revolving balance</a:t>
            </a:r>
          </a:p>
          <a:p>
            <a:pPr marL="285750" indent="-285750">
              <a:buFont typeface="Arial" panose="020B0604020202020204" pitchFamily="34" charset="0"/>
              <a:buChar char="•"/>
            </a:pPr>
            <a:r>
              <a:rPr lang="en-US" sz="1700" dirty="0">
                <a:solidFill>
                  <a:schemeClr val="bg1"/>
                </a:solidFill>
              </a:rPr>
              <a:t>State-wise loan status</a:t>
            </a:r>
          </a:p>
          <a:p>
            <a:pPr marL="285750" indent="-285750">
              <a:buFont typeface="Arial" panose="020B0604020202020204" pitchFamily="34" charset="0"/>
              <a:buChar char="•"/>
            </a:pPr>
            <a:r>
              <a:rPr lang="en-US" sz="1700" dirty="0">
                <a:solidFill>
                  <a:schemeClr val="bg1"/>
                </a:solidFill>
              </a:rPr>
              <a:t>Homeownership vs last payment date</a:t>
            </a:r>
          </a:p>
          <a:p>
            <a:pPr marL="285750" indent="-285750">
              <a:buFont typeface="Arial" panose="020B0604020202020204" pitchFamily="34" charset="0"/>
              <a:buChar char="•"/>
            </a:pPr>
            <a:r>
              <a:rPr lang="en-US" sz="1700" dirty="0">
                <a:solidFill>
                  <a:schemeClr val="bg1"/>
                </a:solidFill>
              </a:rPr>
              <a:t>Backend KPIs validated using SQL</a:t>
            </a:r>
          </a:p>
          <a:p>
            <a:endParaRPr lang="en-US" sz="1700" dirty="0">
              <a:solidFill>
                <a:schemeClr val="bg1"/>
              </a:solidFill>
            </a:endParaRPr>
          </a:p>
          <a:p>
            <a:r>
              <a:rPr lang="en-IN" sz="1700" b="1" dirty="0">
                <a:solidFill>
                  <a:schemeClr val="bg1"/>
                </a:solidFill>
              </a:rPr>
              <a:t>5️⃣ Dashboard Creation</a:t>
            </a:r>
          </a:p>
          <a:p>
            <a:pPr marL="285750" indent="-285750">
              <a:buFont typeface="Arial" panose="020B0604020202020204" pitchFamily="34" charset="0"/>
              <a:buChar char="•"/>
            </a:pPr>
            <a:r>
              <a:rPr lang="en-IN" sz="1700" b="1" dirty="0">
                <a:solidFill>
                  <a:schemeClr val="bg1"/>
                </a:solidFill>
              </a:rPr>
              <a:t>Excel:</a:t>
            </a:r>
            <a:r>
              <a:rPr lang="en-IN" sz="1700" dirty="0">
                <a:solidFill>
                  <a:schemeClr val="bg1"/>
                </a:solidFill>
              </a:rPr>
              <a:t> KPI cards, slicers, pivot charts</a:t>
            </a:r>
          </a:p>
          <a:p>
            <a:pPr marL="285750" indent="-285750">
              <a:buFont typeface="Arial" panose="020B0604020202020204" pitchFamily="34" charset="0"/>
              <a:buChar char="•"/>
            </a:pPr>
            <a:r>
              <a:rPr lang="en-IN" sz="1700" b="1" dirty="0">
                <a:solidFill>
                  <a:schemeClr val="bg1"/>
                </a:solidFill>
              </a:rPr>
              <a:t>Power BI:</a:t>
            </a:r>
            <a:r>
              <a:rPr lang="en-IN" sz="1700" dirty="0">
                <a:solidFill>
                  <a:schemeClr val="bg1"/>
                </a:solidFill>
              </a:rPr>
              <a:t> Modern visuals, drill-down charts</a:t>
            </a:r>
          </a:p>
          <a:p>
            <a:pPr marL="285750" indent="-285750">
              <a:buFont typeface="Arial" panose="020B0604020202020204" pitchFamily="34" charset="0"/>
              <a:buChar char="•"/>
            </a:pPr>
            <a:r>
              <a:rPr lang="en-IN" sz="1700" b="1" dirty="0">
                <a:solidFill>
                  <a:schemeClr val="bg1"/>
                </a:solidFill>
              </a:rPr>
              <a:t>Tableau:</a:t>
            </a:r>
            <a:r>
              <a:rPr lang="en-IN" sz="1700" dirty="0">
                <a:solidFill>
                  <a:schemeClr val="bg1"/>
                </a:solidFill>
              </a:rPr>
              <a:t> Interactive filters, advanced analytics</a:t>
            </a:r>
          </a:p>
          <a:p>
            <a:pPr marL="285750" indent="-285750">
              <a:buFont typeface="Arial" panose="020B0604020202020204" pitchFamily="34" charset="0"/>
              <a:buChar char="•"/>
            </a:pPr>
            <a:r>
              <a:rPr lang="en-IN" sz="1700" b="1" dirty="0">
                <a:solidFill>
                  <a:schemeClr val="bg1"/>
                </a:solidFill>
              </a:rPr>
              <a:t>SQL:</a:t>
            </a:r>
            <a:r>
              <a:rPr lang="en-IN" sz="1700" dirty="0">
                <a:solidFill>
                  <a:schemeClr val="bg1"/>
                </a:solidFill>
              </a:rPr>
              <a:t> Analytical script support and KPI extraction</a:t>
            </a:r>
          </a:p>
          <a:p>
            <a:endParaRPr lang="en-IN" sz="1700" dirty="0">
              <a:solidFill>
                <a:schemeClr val="bg1"/>
              </a:solidFill>
            </a:endParaRPr>
          </a:p>
          <a:p>
            <a:r>
              <a:rPr lang="en-IN" sz="1700" b="1" dirty="0">
                <a:solidFill>
                  <a:schemeClr val="bg1"/>
                </a:solidFill>
              </a:rPr>
              <a:t>6️⃣ Insights Generation</a:t>
            </a:r>
          </a:p>
          <a:p>
            <a:pPr marL="285750" indent="-285750">
              <a:buFont typeface="Arial" panose="020B0604020202020204" pitchFamily="34" charset="0"/>
              <a:buChar char="•"/>
            </a:pPr>
            <a:r>
              <a:rPr lang="en-IN" sz="1700" dirty="0">
                <a:solidFill>
                  <a:schemeClr val="bg1"/>
                </a:solidFill>
              </a:rPr>
              <a:t>Identified patterns, customer </a:t>
            </a:r>
            <a:r>
              <a:rPr lang="en-IN" sz="1700" dirty="0" err="1">
                <a:solidFill>
                  <a:schemeClr val="bg1"/>
                </a:solidFill>
              </a:rPr>
              <a:t>behavior</a:t>
            </a:r>
            <a:r>
              <a:rPr lang="en-IN" sz="1700" dirty="0">
                <a:solidFill>
                  <a:schemeClr val="bg1"/>
                </a:solidFill>
              </a:rPr>
              <a:t>, and risk indicators</a:t>
            </a:r>
          </a:p>
          <a:p>
            <a:pPr marL="285750" indent="-285750">
              <a:buFont typeface="Arial" panose="020B0604020202020204" pitchFamily="34" charset="0"/>
              <a:buChar char="•"/>
            </a:pPr>
            <a:r>
              <a:rPr lang="en-IN" sz="1700" dirty="0">
                <a:solidFill>
                  <a:schemeClr val="bg1"/>
                </a:solidFill>
              </a:rPr>
              <a:t>Compared repayment performance across different groups</a:t>
            </a:r>
          </a:p>
          <a:p>
            <a:endParaRPr lang="en-US" sz="1700" dirty="0">
              <a:solidFill>
                <a:schemeClr val="bg1"/>
              </a:solidFill>
            </a:endParaRPr>
          </a:p>
        </p:txBody>
      </p:sp>
    </p:spTree>
    <p:extLst>
      <p:ext uri="{BB962C8B-B14F-4D97-AF65-F5344CB8AC3E}">
        <p14:creationId xmlns:p14="http://schemas.microsoft.com/office/powerpoint/2010/main" val="34686803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5AAA963-F195-5824-540A-93D8B09A6E84}"/>
              </a:ext>
            </a:extLst>
          </p:cNvPr>
          <p:cNvSpPr/>
          <p:nvPr/>
        </p:nvSpPr>
        <p:spPr>
          <a:xfrm>
            <a:off x="54427" y="0"/>
            <a:ext cx="3845769" cy="111967"/>
          </a:xfrm>
          <a:prstGeom prst="rect">
            <a:avLst/>
          </a:prstGeom>
          <a:solidFill>
            <a:srgbClr val="0D3B4F"/>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F08F76D0-16C2-292D-5604-43C6714C89B9}"/>
              </a:ext>
            </a:extLst>
          </p:cNvPr>
          <p:cNvSpPr/>
          <p:nvPr/>
        </p:nvSpPr>
        <p:spPr>
          <a:xfrm>
            <a:off x="4030824" y="0"/>
            <a:ext cx="4260982" cy="111967"/>
          </a:xfrm>
          <a:prstGeom prst="rect">
            <a:avLst/>
          </a:prstGeom>
          <a:solidFill>
            <a:srgbClr val="2A7E7C"/>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C4D207DB-E649-7D81-5EA8-907EB5166A56}"/>
              </a:ext>
            </a:extLst>
          </p:cNvPr>
          <p:cNvSpPr/>
          <p:nvPr/>
        </p:nvSpPr>
        <p:spPr>
          <a:xfrm>
            <a:off x="8397552" y="0"/>
            <a:ext cx="3740022" cy="111967"/>
          </a:xfrm>
          <a:prstGeom prst="rect">
            <a:avLst/>
          </a:prstGeom>
          <a:solidFill>
            <a:srgbClr val="0D3B4F"/>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38C4530D-7CA5-AF4C-ABF9-1FB68C4D3407}"/>
              </a:ext>
            </a:extLst>
          </p:cNvPr>
          <p:cNvSpPr/>
          <p:nvPr/>
        </p:nvSpPr>
        <p:spPr>
          <a:xfrm>
            <a:off x="54426" y="177281"/>
            <a:ext cx="3845769" cy="6270172"/>
          </a:xfrm>
          <a:prstGeom prst="rect">
            <a:avLst/>
          </a:prstGeom>
          <a:solidFill>
            <a:srgbClr val="0D3B4F"/>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4430747E-3878-3528-D0D6-FC0E6801AE5C}"/>
              </a:ext>
            </a:extLst>
          </p:cNvPr>
          <p:cNvSpPr/>
          <p:nvPr/>
        </p:nvSpPr>
        <p:spPr>
          <a:xfrm>
            <a:off x="503851" y="2339646"/>
            <a:ext cx="2715207" cy="550507"/>
          </a:xfrm>
          <a:prstGeom prst="roundRect">
            <a:avLst/>
          </a:prstGeom>
          <a:gradFill flip="none" rotWithShape="1">
            <a:gsLst>
              <a:gs pos="0">
                <a:srgbClr val="2A7E7C">
                  <a:shade val="30000"/>
                  <a:satMod val="115000"/>
                </a:srgbClr>
              </a:gs>
              <a:gs pos="50000">
                <a:srgbClr val="2A7E7C">
                  <a:shade val="67500"/>
                  <a:satMod val="115000"/>
                </a:srgbClr>
              </a:gs>
              <a:gs pos="100000">
                <a:srgbClr val="2A7E7C">
                  <a:shade val="100000"/>
                  <a:satMod val="115000"/>
                </a:srgbClr>
              </a:gs>
            </a:gsLst>
            <a:path path="circle">
              <a:fillToRect l="100000" t="100000"/>
            </a:path>
            <a:tileRect r="-100000" b="-100000"/>
          </a:gradFill>
          <a:ln>
            <a:noFill/>
          </a:ln>
          <a:effectLst>
            <a:innerShdw blurRad="63500" dist="50800" dir="189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Rectangle: Rounded Corners 7">
            <a:extLst>
              <a:ext uri="{FF2B5EF4-FFF2-40B4-BE49-F238E27FC236}">
                <a16:creationId xmlns:a16="http://schemas.microsoft.com/office/drawing/2014/main" id="{3110C6D7-9B49-4386-B1C1-D929E6957094}"/>
              </a:ext>
            </a:extLst>
          </p:cNvPr>
          <p:cNvSpPr/>
          <p:nvPr/>
        </p:nvSpPr>
        <p:spPr>
          <a:xfrm>
            <a:off x="503851" y="2942638"/>
            <a:ext cx="2715207" cy="550507"/>
          </a:xfrm>
          <a:prstGeom prst="roundRect">
            <a:avLst/>
          </a:prstGeom>
          <a:gradFill flip="none" rotWithShape="1">
            <a:gsLst>
              <a:gs pos="0">
                <a:srgbClr val="2A7E7C">
                  <a:shade val="30000"/>
                  <a:satMod val="115000"/>
                </a:srgbClr>
              </a:gs>
              <a:gs pos="50000">
                <a:srgbClr val="2A7E7C">
                  <a:shade val="67500"/>
                  <a:satMod val="115000"/>
                </a:srgbClr>
              </a:gs>
              <a:gs pos="100000">
                <a:srgbClr val="2A7E7C">
                  <a:shade val="100000"/>
                  <a:satMod val="115000"/>
                </a:srgbClr>
              </a:gs>
            </a:gsLst>
            <a:path path="circle">
              <a:fillToRect l="100000" t="100000"/>
            </a:path>
            <a:tileRect r="-100000" b="-100000"/>
          </a:gradFill>
          <a:ln>
            <a:noFill/>
          </a:ln>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bg1"/>
                </a:solidFill>
                <a:latin typeface="Georgia" panose="02040502050405020303" pitchFamily="18" charset="0"/>
              </a:rPr>
              <a:t>  Microsoft Power-BI</a:t>
            </a:r>
            <a:endParaRPr lang="en-IN" dirty="0">
              <a:solidFill>
                <a:schemeClr val="bg1"/>
              </a:solidFill>
              <a:latin typeface="Georgia" panose="02040502050405020303" pitchFamily="18" charset="0"/>
            </a:endParaRPr>
          </a:p>
        </p:txBody>
      </p:sp>
      <p:sp>
        <p:nvSpPr>
          <p:cNvPr id="9" name="Rectangle: Rounded Corners 8">
            <a:extLst>
              <a:ext uri="{FF2B5EF4-FFF2-40B4-BE49-F238E27FC236}">
                <a16:creationId xmlns:a16="http://schemas.microsoft.com/office/drawing/2014/main" id="{E8A44894-9146-9693-2B34-B6EFA2B3DA04}"/>
              </a:ext>
            </a:extLst>
          </p:cNvPr>
          <p:cNvSpPr/>
          <p:nvPr/>
        </p:nvSpPr>
        <p:spPr>
          <a:xfrm>
            <a:off x="503853" y="3545630"/>
            <a:ext cx="2715207" cy="550507"/>
          </a:xfrm>
          <a:prstGeom prst="roundRect">
            <a:avLst/>
          </a:prstGeom>
          <a:gradFill flip="none" rotWithShape="1">
            <a:gsLst>
              <a:gs pos="0">
                <a:srgbClr val="2A7E7C">
                  <a:shade val="30000"/>
                  <a:satMod val="115000"/>
                </a:srgbClr>
              </a:gs>
              <a:gs pos="50000">
                <a:srgbClr val="2A7E7C">
                  <a:shade val="67500"/>
                  <a:satMod val="115000"/>
                </a:srgbClr>
              </a:gs>
              <a:gs pos="100000">
                <a:srgbClr val="2A7E7C">
                  <a:shade val="100000"/>
                  <a:satMod val="115000"/>
                </a:srgbClr>
              </a:gs>
            </a:gsLst>
            <a:path path="circle">
              <a:fillToRect l="100000" t="100000"/>
            </a:path>
            <a:tileRect r="-100000" b="-100000"/>
          </a:gradFill>
          <a:ln>
            <a:noFill/>
          </a:ln>
          <a:effectLst>
            <a:innerShdw blurRad="63500" dist="50800" dir="189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bg1"/>
                </a:solidFill>
                <a:latin typeface="Georgia" panose="02040502050405020303" pitchFamily="18" charset="0"/>
              </a:rPr>
              <a:t>     Tableau</a:t>
            </a:r>
            <a:endParaRPr lang="en-IN" dirty="0">
              <a:solidFill>
                <a:schemeClr val="bg1"/>
              </a:solidFill>
              <a:latin typeface="Georgia" panose="02040502050405020303" pitchFamily="18" charset="0"/>
            </a:endParaRPr>
          </a:p>
        </p:txBody>
      </p:sp>
      <p:sp>
        <p:nvSpPr>
          <p:cNvPr id="10" name="Rectangle: Rounded Corners 9">
            <a:extLst>
              <a:ext uri="{FF2B5EF4-FFF2-40B4-BE49-F238E27FC236}">
                <a16:creationId xmlns:a16="http://schemas.microsoft.com/office/drawing/2014/main" id="{8B139F87-B2FA-4BE5-AE30-96442890DDD6}"/>
              </a:ext>
            </a:extLst>
          </p:cNvPr>
          <p:cNvSpPr/>
          <p:nvPr/>
        </p:nvSpPr>
        <p:spPr>
          <a:xfrm>
            <a:off x="503851" y="4161451"/>
            <a:ext cx="2715207" cy="550507"/>
          </a:xfrm>
          <a:prstGeom prst="roundRect">
            <a:avLst/>
          </a:prstGeom>
          <a:gradFill flip="none" rotWithShape="1">
            <a:gsLst>
              <a:gs pos="0">
                <a:srgbClr val="2A7E7C">
                  <a:shade val="30000"/>
                  <a:satMod val="115000"/>
                </a:srgbClr>
              </a:gs>
              <a:gs pos="50000">
                <a:srgbClr val="2A7E7C">
                  <a:shade val="67500"/>
                  <a:satMod val="115000"/>
                </a:srgbClr>
              </a:gs>
              <a:gs pos="100000">
                <a:srgbClr val="2A7E7C">
                  <a:shade val="100000"/>
                  <a:satMod val="115000"/>
                </a:srgbClr>
              </a:gs>
            </a:gsLst>
            <a:lin ang="2700000" scaled="1"/>
            <a:tileRect/>
          </a:gradFill>
          <a:ln>
            <a:noFill/>
          </a:ln>
          <a:effectLst>
            <a:innerShdw blurRad="63500" dist="50800" dir="189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bg1"/>
                </a:solidFill>
                <a:latin typeface="Georgia" panose="02040502050405020303" pitchFamily="18" charset="0"/>
              </a:rPr>
              <a:t>   My SQL</a:t>
            </a:r>
            <a:endParaRPr lang="en-IN" dirty="0">
              <a:solidFill>
                <a:schemeClr val="bg1"/>
              </a:solidFill>
              <a:latin typeface="Georgia" panose="02040502050405020303" pitchFamily="18" charset="0"/>
            </a:endParaRPr>
          </a:p>
        </p:txBody>
      </p:sp>
      <p:sp>
        <p:nvSpPr>
          <p:cNvPr id="11" name="TextBox 10">
            <a:extLst>
              <a:ext uri="{FF2B5EF4-FFF2-40B4-BE49-F238E27FC236}">
                <a16:creationId xmlns:a16="http://schemas.microsoft.com/office/drawing/2014/main" id="{A3FBDDE2-C1D0-EFBA-8C3B-32F3705279AC}"/>
              </a:ext>
            </a:extLst>
          </p:cNvPr>
          <p:cNvSpPr txBox="1"/>
          <p:nvPr/>
        </p:nvSpPr>
        <p:spPr>
          <a:xfrm>
            <a:off x="732450" y="2394270"/>
            <a:ext cx="2258008" cy="369332"/>
          </a:xfrm>
          <a:prstGeom prst="rect">
            <a:avLst/>
          </a:prstGeom>
          <a:noFill/>
        </p:spPr>
        <p:txBody>
          <a:bodyPr wrap="square" rtlCol="0">
            <a:spAutoFit/>
          </a:bodyPr>
          <a:lstStyle/>
          <a:p>
            <a:r>
              <a:rPr lang="en-US" dirty="0">
                <a:solidFill>
                  <a:schemeClr val="bg1"/>
                </a:solidFill>
                <a:latin typeface="Georgia" panose="02040502050405020303" pitchFamily="18" charset="0"/>
              </a:rPr>
              <a:t>Microsoft Excel</a:t>
            </a:r>
            <a:endParaRPr lang="en-IN" dirty="0">
              <a:solidFill>
                <a:schemeClr val="bg1"/>
              </a:solidFill>
              <a:latin typeface="Georgia" panose="02040502050405020303" pitchFamily="18" charset="0"/>
            </a:endParaRPr>
          </a:p>
        </p:txBody>
      </p:sp>
      <p:sp>
        <p:nvSpPr>
          <p:cNvPr id="14" name="TextBox 13">
            <a:extLst>
              <a:ext uri="{FF2B5EF4-FFF2-40B4-BE49-F238E27FC236}">
                <a16:creationId xmlns:a16="http://schemas.microsoft.com/office/drawing/2014/main" id="{6DC5E2A7-DC69-84BB-5605-C4E8AD6B4B6C}"/>
              </a:ext>
            </a:extLst>
          </p:cNvPr>
          <p:cNvSpPr txBox="1"/>
          <p:nvPr/>
        </p:nvSpPr>
        <p:spPr>
          <a:xfrm>
            <a:off x="503851" y="1092014"/>
            <a:ext cx="2789855" cy="769441"/>
          </a:xfrm>
          <a:prstGeom prst="rect">
            <a:avLst/>
          </a:prstGeom>
          <a:noFill/>
        </p:spPr>
        <p:txBody>
          <a:bodyPr wrap="square" rtlCol="0">
            <a:spAutoFit/>
          </a:bodyPr>
          <a:lstStyle/>
          <a:p>
            <a:r>
              <a:rPr lang="en-US" sz="4400" dirty="0">
                <a:solidFill>
                  <a:schemeClr val="bg1"/>
                </a:solidFill>
              </a:rPr>
              <a:t>TOOLS</a:t>
            </a:r>
            <a:endParaRPr lang="en-IN" sz="4400" dirty="0">
              <a:solidFill>
                <a:schemeClr val="bg1"/>
              </a:solidFill>
            </a:endParaRPr>
          </a:p>
        </p:txBody>
      </p:sp>
      <p:pic>
        <p:nvPicPr>
          <p:cNvPr id="17" name="Picture 16" descr="A green box with a white x on it&#10;&#10;AI-generated content may be incorrect.">
            <a:extLst>
              <a:ext uri="{FF2B5EF4-FFF2-40B4-BE49-F238E27FC236}">
                <a16:creationId xmlns:a16="http://schemas.microsoft.com/office/drawing/2014/main" id="{337EF12E-DA75-A4C7-CC39-11462D20EDBE}"/>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4693298" y="188793"/>
            <a:ext cx="3209733" cy="3029098"/>
          </a:xfrm>
          <a:prstGeom prst="rect">
            <a:avLst/>
          </a:prstGeom>
          <a:effectLst>
            <a:outerShdw blurRad="50800" dist="38100" dir="2700000" algn="tl" rotWithShape="0">
              <a:prstClr val="black">
                <a:alpha val="40000"/>
              </a:prstClr>
            </a:outerShdw>
          </a:effectLst>
        </p:spPr>
      </p:pic>
      <p:pic>
        <p:nvPicPr>
          <p:cNvPr id="19" name="Picture 18" descr="A yellow bar chart with a white background&#10;&#10;AI-generated content may be incorrect.">
            <a:extLst>
              <a:ext uri="{FF2B5EF4-FFF2-40B4-BE49-F238E27FC236}">
                <a16:creationId xmlns:a16="http://schemas.microsoft.com/office/drawing/2014/main" id="{1A6BB13A-6E8C-BBA3-65DD-B17E01321DF8}"/>
              </a:ext>
            </a:extLst>
          </p:cNvPr>
          <p:cNvPicPr>
            <a:picLocks noChangeAspect="1"/>
          </p:cNvPicPr>
          <p:nvPr/>
        </p:nvPicPr>
        <p:blipFill>
          <a:blip r:embed="rId4">
            <a:extLst>
              <a:ext uri="{BEBA8EAE-BF5A-486C-A8C5-ECC9F3942E4B}">
                <a14:imgProps xmlns:a14="http://schemas.microsoft.com/office/drawing/2010/main">
                  <a14:imgLayer r:embed="rId5">
                    <a14:imgEffect>
                      <a14:colorTemperature colorTemp="4700"/>
                    </a14:imgEffect>
                  </a14:imgLayer>
                </a14:imgProps>
              </a:ext>
              <a:ext uri="{28A0092B-C50C-407E-A947-70E740481C1C}">
                <a14:useLocalDpi xmlns:a14="http://schemas.microsoft.com/office/drawing/2010/main" val="0"/>
              </a:ext>
            </a:extLst>
          </a:blip>
          <a:stretch>
            <a:fillRect/>
          </a:stretch>
        </p:blipFill>
        <p:spPr>
          <a:xfrm>
            <a:off x="7979234" y="298222"/>
            <a:ext cx="3396342" cy="2919669"/>
          </a:xfrm>
          <a:prstGeom prst="rect">
            <a:avLst/>
          </a:prstGeom>
          <a:effectLst>
            <a:outerShdw blurRad="50800" dist="38100" dir="2700000" algn="tl" rotWithShape="0">
              <a:prstClr val="black">
                <a:alpha val="40000"/>
              </a:prstClr>
            </a:outerShdw>
          </a:effectLst>
        </p:spPr>
      </p:pic>
      <p:pic>
        <p:nvPicPr>
          <p:cNvPr id="21" name="Picture 20" descr="A group of colorful crosses&#10;&#10;AI-generated content may be incorrect.">
            <a:extLst>
              <a:ext uri="{FF2B5EF4-FFF2-40B4-BE49-F238E27FC236}">
                <a16:creationId xmlns:a16="http://schemas.microsoft.com/office/drawing/2014/main" id="{66664928-38D9-B94A-9294-3EE8716CF4D0}"/>
              </a:ext>
            </a:extLst>
          </p:cNvPr>
          <p:cNvPicPr>
            <a:picLocks noChangeAspect="1"/>
          </p:cNvPicPr>
          <p:nvPr/>
        </p:nvPicPr>
        <p:blipFill>
          <a:blip r:embed="rId6">
            <a:extLst>
              <a:ext uri="{BEBA8EAE-BF5A-486C-A8C5-ECC9F3942E4B}">
                <a14:imgProps xmlns:a14="http://schemas.microsoft.com/office/drawing/2010/main">
                  <a14:imgLayer r:embed="rId7">
                    <a14:imgEffect>
                      <a14:colorTemperature colorTemp="4700"/>
                    </a14:imgEffect>
                  </a14:imgLayer>
                </a14:imgProps>
              </a:ext>
              <a:ext uri="{28A0092B-C50C-407E-A947-70E740481C1C}">
                <a14:useLocalDpi xmlns:a14="http://schemas.microsoft.com/office/drawing/2010/main" val="0"/>
              </a:ext>
            </a:extLst>
          </a:blip>
          <a:stretch>
            <a:fillRect/>
          </a:stretch>
        </p:blipFill>
        <p:spPr>
          <a:xfrm>
            <a:off x="4693298" y="3294717"/>
            <a:ext cx="3209733" cy="2898537"/>
          </a:xfrm>
          <a:prstGeom prst="rect">
            <a:avLst/>
          </a:prstGeom>
          <a:effectLst>
            <a:outerShdw blurRad="50800" dist="38100" dir="2700000" algn="tl" rotWithShape="0">
              <a:prstClr val="black">
                <a:alpha val="40000"/>
              </a:prstClr>
            </a:outerShdw>
          </a:effectLst>
        </p:spPr>
      </p:pic>
      <p:pic>
        <p:nvPicPr>
          <p:cNvPr id="23" name="Picture 22" descr="A blue circle with white text and a dolphin&#10;&#10;AI-generated content may be incorrect.">
            <a:extLst>
              <a:ext uri="{FF2B5EF4-FFF2-40B4-BE49-F238E27FC236}">
                <a16:creationId xmlns:a16="http://schemas.microsoft.com/office/drawing/2014/main" id="{2D4D4DE4-5402-4554-FDF7-0D993C69D87B}"/>
              </a:ext>
            </a:extLst>
          </p:cNvPr>
          <p:cNvPicPr>
            <a:picLocks noChangeAspect="1"/>
          </p:cNvPicPr>
          <p:nvPr/>
        </p:nvPicPr>
        <p:blipFill>
          <a:blip r:embed="rId8">
            <a:extLst>
              <a:ext uri="{BEBA8EAE-BF5A-486C-A8C5-ECC9F3942E4B}">
                <a14:imgProps xmlns:a14="http://schemas.microsoft.com/office/drawing/2010/main">
                  <a14:imgLayer r:embed="rId9">
                    <a14:imgEffect>
                      <a14:colorTemperature colorTemp="4700"/>
                    </a14:imgEffect>
                  </a14:imgLayer>
                </a14:imgProps>
              </a:ext>
              <a:ext uri="{28A0092B-C50C-407E-A947-70E740481C1C}">
                <a14:useLocalDpi xmlns:a14="http://schemas.microsoft.com/office/drawing/2010/main" val="0"/>
              </a:ext>
            </a:extLst>
          </a:blip>
          <a:stretch>
            <a:fillRect/>
          </a:stretch>
        </p:blipFill>
        <p:spPr>
          <a:xfrm>
            <a:off x="7979233" y="3312367"/>
            <a:ext cx="3396342" cy="276892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0698186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5AAA963-F195-5824-540A-93D8B09A6E84}"/>
              </a:ext>
            </a:extLst>
          </p:cNvPr>
          <p:cNvSpPr/>
          <p:nvPr/>
        </p:nvSpPr>
        <p:spPr>
          <a:xfrm>
            <a:off x="54427" y="0"/>
            <a:ext cx="3845769" cy="111967"/>
          </a:xfrm>
          <a:prstGeom prst="rect">
            <a:avLst/>
          </a:prstGeom>
          <a:solidFill>
            <a:srgbClr val="0D3B4F"/>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C4D207DB-E649-7D81-5EA8-907EB5166A56}"/>
              </a:ext>
            </a:extLst>
          </p:cNvPr>
          <p:cNvSpPr/>
          <p:nvPr/>
        </p:nvSpPr>
        <p:spPr>
          <a:xfrm>
            <a:off x="8397552" y="0"/>
            <a:ext cx="3740022" cy="111967"/>
          </a:xfrm>
          <a:prstGeom prst="rect">
            <a:avLst/>
          </a:prstGeom>
          <a:solidFill>
            <a:srgbClr val="0D3B4F"/>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6DC5E2A7-DC69-84BB-5605-C4E8AD6B4B6C}"/>
              </a:ext>
            </a:extLst>
          </p:cNvPr>
          <p:cNvSpPr txBox="1"/>
          <p:nvPr/>
        </p:nvSpPr>
        <p:spPr>
          <a:xfrm>
            <a:off x="634483" y="2044006"/>
            <a:ext cx="2864498" cy="1200329"/>
          </a:xfrm>
          <a:prstGeom prst="rect">
            <a:avLst/>
          </a:prstGeom>
          <a:noFill/>
        </p:spPr>
        <p:txBody>
          <a:bodyPr wrap="square" rtlCol="0">
            <a:spAutoFit/>
          </a:bodyPr>
          <a:lstStyle/>
          <a:p>
            <a:r>
              <a:rPr lang="en-US" sz="3600" dirty="0">
                <a:solidFill>
                  <a:schemeClr val="bg1"/>
                </a:solidFill>
              </a:rPr>
              <a:t>KPI’S ADDRESSED</a:t>
            </a:r>
          </a:p>
        </p:txBody>
      </p:sp>
      <p:sp>
        <p:nvSpPr>
          <p:cNvPr id="3" name="Rectangle 2">
            <a:extLst>
              <a:ext uri="{FF2B5EF4-FFF2-40B4-BE49-F238E27FC236}">
                <a16:creationId xmlns:a16="http://schemas.microsoft.com/office/drawing/2014/main" id="{F08F76D0-16C2-292D-5604-43C6714C89B9}"/>
              </a:ext>
            </a:extLst>
          </p:cNvPr>
          <p:cNvSpPr/>
          <p:nvPr/>
        </p:nvSpPr>
        <p:spPr>
          <a:xfrm>
            <a:off x="3947433" y="1"/>
            <a:ext cx="4344373" cy="448909"/>
          </a:xfrm>
          <a:prstGeom prst="rect">
            <a:avLst/>
          </a:prstGeom>
          <a:solidFill>
            <a:srgbClr val="2A7E7C"/>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DF29317D-EFA9-F169-035F-F886D33E7CAB}"/>
              </a:ext>
            </a:extLst>
          </p:cNvPr>
          <p:cNvSpPr txBox="1"/>
          <p:nvPr/>
        </p:nvSpPr>
        <p:spPr>
          <a:xfrm>
            <a:off x="4822760" y="-12755"/>
            <a:ext cx="2940309" cy="461665"/>
          </a:xfrm>
          <a:prstGeom prst="rect">
            <a:avLst/>
          </a:prstGeom>
          <a:noFill/>
        </p:spPr>
        <p:txBody>
          <a:bodyPr wrap="square" rtlCol="0">
            <a:spAutoFit/>
          </a:bodyPr>
          <a:lstStyle/>
          <a:p>
            <a:r>
              <a:rPr lang="en-US" sz="2400" dirty="0">
                <a:solidFill>
                  <a:schemeClr val="bg1"/>
                </a:solidFill>
              </a:rPr>
              <a:t>Excel Dashboard</a:t>
            </a:r>
            <a:endParaRPr lang="en-IN" sz="2400" dirty="0">
              <a:solidFill>
                <a:schemeClr val="bg1"/>
              </a:solidFill>
            </a:endParaRPr>
          </a:p>
        </p:txBody>
      </p:sp>
      <p:pic>
        <p:nvPicPr>
          <p:cNvPr id="9" name="Picture 8" descr="A screenshot of a computer screen&#10;&#10;AI-generated content may be incorrect.">
            <a:extLst>
              <a:ext uri="{FF2B5EF4-FFF2-40B4-BE49-F238E27FC236}">
                <a16:creationId xmlns:a16="http://schemas.microsoft.com/office/drawing/2014/main" id="{25A5602D-46F9-158B-D6A3-31776D3ECF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934" y="606490"/>
            <a:ext cx="11663265" cy="5882968"/>
          </a:xfrm>
          <a:prstGeom prst="rect">
            <a:avLst/>
          </a:prstGeom>
        </p:spPr>
      </p:pic>
    </p:spTree>
    <p:extLst>
      <p:ext uri="{BB962C8B-B14F-4D97-AF65-F5344CB8AC3E}">
        <p14:creationId xmlns:p14="http://schemas.microsoft.com/office/powerpoint/2010/main" val="1667327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5AAA963-F195-5824-540A-93D8B09A6E84}"/>
              </a:ext>
            </a:extLst>
          </p:cNvPr>
          <p:cNvSpPr/>
          <p:nvPr/>
        </p:nvSpPr>
        <p:spPr>
          <a:xfrm>
            <a:off x="54427" y="0"/>
            <a:ext cx="3845769" cy="111967"/>
          </a:xfrm>
          <a:prstGeom prst="rect">
            <a:avLst/>
          </a:prstGeom>
          <a:solidFill>
            <a:srgbClr val="0D3B4F"/>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C4D207DB-E649-7D81-5EA8-907EB5166A56}"/>
              </a:ext>
            </a:extLst>
          </p:cNvPr>
          <p:cNvSpPr/>
          <p:nvPr/>
        </p:nvSpPr>
        <p:spPr>
          <a:xfrm>
            <a:off x="8397552" y="0"/>
            <a:ext cx="3740022" cy="111967"/>
          </a:xfrm>
          <a:prstGeom prst="rect">
            <a:avLst/>
          </a:prstGeom>
          <a:solidFill>
            <a:srgbClr val="0D3B4F"/>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6DC5E2A7-DC69-84BB-5605-C4E8AD6B4B6C}"/>
              </a:ext>
            </a:extLst>
          </p:cNvPr>
          <p:cNvSpPr txBox="1"/>
          <p:nvPr/>
        </p:nvSpPr>
        <p:spPr>
          <a:xfrm>
            <a:off x="634483" y="2044006"/>
            <a:ext cx="2864498" cy="1200329"/>
          </a:xfrm>
          <a:prstGeom prst="rect">
            <a:avLst/>
          </a:prstGeom>
          <a:noFill/>
        </p:spPr>
        <p:txBody>
          <a:bodyPr wrap="square" rtlCol="0">
            <a:spAutoFit/>
          </a:bodyPr>
          <a:lstStyle/>
          <a:p>
            <a:r>
              <a:rPr lang="en-US" sz="3600" dirty="0">
                <a:solidFill>
                  <a:schemeClr val="bg1"/>
                </a:solidFill>
              </a:rPr>
              <a:t>KPI’S ADDRESSED</a:t>
            </a:r>
          </a:p>
        </p:txBody>
      </p:sp>
      <p:sp>
        <p:nvSpPr>
          <p:cNvPr id="3" name="Rectangle 2">
            <a:extLst>
              <a:ext uri="{FF2B5EF4-FFF2-40B4-BE49-F238E27FC236}">
                <a16:creationId xmlns:a16="http://schemas.microsoft.com/office/drawing/2014/main" id="{F08F76D0-16C2-292D-5604-43C6714C89B9}"/>
              </a:ext>
            </a:extLst>
          </p:cNvPr>
          <p:cNvSpPr/>
          <p:nvPr/>
        </p:nvSpPr>
        <p:spPr>
          <a:xfrm>
            <a:off x="3947433" y="-6378"/>
            <a:ext cx="4344373" cy="448909"/>
          </a:xfrm>
          <a:prstGeom prst="rect">
            <a:avLst/>
          </a:prstGeom>
          <a:solidFill>
            <a:srgbClr val="2A7E7C"/>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DF29317D-EFA9-F169-035F-F886D33E7CAB}"/>
              </a:ext>
            </a:extLst>
          </p:cNvPr>
          <p:cNvSpPr txBox="1"/>
          <p:nvPr/>
        </p:nvSpPr>
        <p:spPr>
          <a:xfrm>
            <a:off x="4822760" y="-12755"/>
            <a:ext cx="2940309" cy="461665"/>
          </a:xfrm>
          <a:prstGeom prst="rect">
            <a:avLst/>
          </a:prstGeom>
          <a:noFill/>
        </p:spPr>
        <p:txBody>
          <a:bodyPr wrap="square" rtlCol="0">
            <a:spAutoFit/>
          </a:bodyPr>
          <a:lstStyle/>
          <a:p>
            <a:r>
              <a:rPr lang="en-US" sz="2400" dirty="0">
                <a:solidFill>
                  <a:schemeClr val="bg1"/>
                </a:solidFill>
              </a:rPr>
              <a:t>Power BI Dashboard</a:t>
            </a:r>
            <a:endParaRPr lang="en-IN" sz="2400" dirty="0">
              <a:solidFill>
                <a:schemeClr val="bg1"/>
              </a:solidFill>
            </a:endParaRPr>
          </a:p>
        </p:txBody>
      </p:sp>
      <p:pic>
        <p:nvPicPr>
          <p:cNvPr id="6" name="Picture 5" descr="A screenshot of a computer screen&#10;&#10;AI-generated content may be incorrect.">
            <a:extLst>
              <a:ext uri="{FF2B5EF4-FFF2-40B4-BE49-F238E27FC236}">
                <a16:creationId xmlns:a16="http://schemas.microsoft.com/office/drawing/2014/main" id="{72278410-68D4-5090-4308-64D335F812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7910" y="578499"/>
            <a:ext cx="11523306" cy="5990252"/>
          </a:xfrm>
          <a:prstGeom prst="rect">
            <a:avLst/>
          </a:prstGeom>
        </p:spPr>
      </p:pic>
    </p:spTree>
    <p:extLst>
      <p:ext uri="{BB962C8B-B14F-4D97-AF65-F5344CB8AC3E}">
        <p14:creationId xmlns:p14="http://schemas.microsoft.com/office/powerpoint/2010/main" val="28163163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5AAA963-F195-5824-540A-93D8B09A6E84}"/>
              </a:ext>
            </a:extLst>
          </p:cNvPr>
          <p:cNvSpPr/>
          <p:nvPr/>
        </p:nvSpPr>
        <p:spPr>
          <a:xfrm>
            <a:off x="54427" y="0"/>
            <a:ext cx="3845769" cy="111967"/>
          </a:xfrm>
          <a:prstGeom prst="rect">
            <a:avLst/>
          </a:prstGeom>
          <a:solidFill>
            <a:srgbClr val="0D3B4F"/>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C4D207DB-E649-7D81-5EA8-907EB5166A56}"/>
              </a:ext>
            </a:extLst>
          </p:cNvPr>
          <p:cNvSpPr/>
          <p:nvPr/>
        </p:nvSpPr>
        <p:spPr>
          <a:xfrm>
            <a:off x="8397552" y="0"/>
            <a:ext cx="3740022" cy="111967"/>
          </a:xfrm>
          <a:prstGeom prst="rect">
            <a:avLst/>
          </a:prstGeom>
          <a:solidFill>
            <a:srgbClr val="0D3B4F"/>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6DC5E2A7-DC69-84BB-5605-C4E8AD6B4B6C}"/>
              </a:ext>
            </a:extLst>
          </p:cNvPr>
          <p:cNvSpPr txBox="1"/>
          <p:nvPr/>
        </p:nvSpPr>
        <p:spPr>
          <a:xfrm>
            <a:off x="634483" y="2044006"/>
            <a:ext cx="2864498" cy="1200329"/>
          </a:xfrm>
          <a:prstGeom prst="rect">
            <a:avLst/>
          </a:prstGeom>
          <a:noFill/>
        </p:spPr>
        <p:txBody>
          <a:bodyPr wrap="square" rtlCol="0">
            <a:spAutoFit/>
          </a:bodyPr>
          <a:lstStyle/>
          <a:p>
            <a:r>
              <a:rPr lang="en-US" sz="3600" dirty="0">
                <a:solidFill>
                  <a:schemeClr val="bg1"/>
                </a:solidFill>
              </a:rPr>
              <a:t>KPI’S ADDRESSED</a:t>
            </a:r>
          </a:p>
        </p:txBody>
      </p:sp>
      <p:sp>
        <p:nvSpPr>
          <p:cNvPr id="3" name="Rectangle 2">
            <a:extLst>
              <a:ext uri="{FF2B5EF4-FFF2-40B4-BE49-F238E27FC236}">
                <a16:creationId xmlns:a16="http://schemas.microsoft.com/office/drawing/2014/main" id="{F08F76D0-16C2-292D-5604-43C6714C89B9}"/>
              </a:ext>
            </a:extLst>
          </p:cNvPr>
          <p:cNvSpPr/>
          <p:nvPr/>
        </p:nvSpPr>
        <p:spPr>
          <a:xfrm>
            <a:off x="3947433" y="-6378"/>
            <a:ext cx="4344373" cy="448909"/>
          </a:xfrm>
          <a:prstGeom prst="rect">
            <a:avLst/>
          </a:prstGeom>
          <a:solidFill>
            <a:srgbClr val="2A7E7C"/>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DF29317D-EFA9-F169-035F-F886D33E7CAB}"/>
              </a:ext>
            </a:extLst>
          </p:cNvPr>
          <p:cNvSpPr txBox="1"/>
          <p:nvPr/>
        </p:nvSpPr>
        <p:spPr>
          <a:xfrm>
            <a:off x="4822760" y="-12755"/>
            <a:ext cx="2940309" cy="461665"/>
          </a:xfrm>
          <a:prstGeom prst="rect">
            <a:avLst/>
          </a:prstGeom>
          <a:noFill/>
        </p:spPr>
        <p:txBody>
          <a:bodyPr wrap="square" rtlCol="0">
            <a:spAutoFit/>
          </a:bodyPr>
          <a:lstStyle/>
          <a:p>
            <a:r>
              <a:rPr lang="en-US" sz="2400" dirty="0">
                <a:solidFill>
                  <a:schemeClr val="bg1"/>
                </a:solidFill>
              </a:rPr>
              <a:t>Tableau Dashboard</a:t>
            </a:r>
            <a:endParaRPr lang="en-IN" sz="2400" dirty="0">
              <a:solidFill>
                <a:schemeClr val="bg1"/>
              </a:solidFill>
            </a:endParaRPr>
          </a:p>
        </p:txBody>
      </p:sp>
      <p:pic>
        <p:nvPicPr>
          <p:cNvPr id="6" name="Picture 5">
            <a:extLst>
              <a:ext uri="{FF2B5EF4-FFF2-40B4-BE49-F238E27FC236}">
                <a16:creationId xmlns:a16="http://schemas.microsoft.com/office/drawing/2014/main" id="{9E24F3D1-CD69-A487-DED5-DA2AEE1F58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0547" y="643812"/>
            <a:ext cx="11392677" cy="5868956"/>
          </a:xfrm>
          <a:prstGeom prst="rect">
            <a:avLst/>
          </a:prstGeom>
        </p:spPr>
      </p:pic>
    </p:spTree>
    <p:extLst>
      <p:ext uri="{BB962C8B-B14F-4D97-AF65-F5344CB8AC3E}">
        <p14:creationId xmlns:p14="http://schemas.microsoft.com/office/powerpoint/2010/main" val="42034923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5AAA963-F195-5824-540A-93D8B09A6E84}"/>
              </a:ext>
            </a:extLst>
          </p:cNvPr>
          <p:cNvSpPr/>
          <p:nvPr/>
        </p:nvSpPr>
        <p:spPr>
          <a:xfrm>
            <a:off x="54427" y="0"/>
            <a:ext cx="3845769" cy="111967"/>
          </a:xfrm>
          <a:prstGeom prst="rect">
            <a:avLst/>
          </a:prstGeom>
          <a:solidFill>
            <a:srgbClr val="0D3B4F"/>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C4D207DB-E649-7D81-5EA8-907EB5166A56}"/>
              </a:ext>
            </a:extLst>
          </p:cNvPr>
          <p:cNvSpPr/>
          <p:nvPr/>
        </p:nvSpPr>
        <p:spPr>
          <a:xfrm>
            <a:off x="8397552" y="0"/>
            <a:ext cx="3740022" cy="111967"/>
          </a:xfrm>
          <a:prstGeom prst="rect">
            <a:avLst/>
          </a:prstGeom>
          <a:solidFill>
            <a:srgbClr val="0D3B4F"/>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6DC5E2A7-DC69-84BB-5605-C4E8AD6B4B6C}"/>
              </a:ext>
            </a:extLst>
          </p:cNvPr>
          <p:cNvSpPr txBox="1"/>
          <p:nvPr/>
        </p:nvSpPr>
        <p:spPr>
          <a:xfrm>
            <a:off x="634483" y="2044006"/>
            <a:ext cx="2864498" cy="1200329"/>
          </a:xfrm>
          <a:prstGeom prst="rect">
            <a:avLst/>
          </a:prstGeom>
          <a:noFill/>
        </p:spPr>
        <p:txBody>
          <a:bodyPr wrap="square" rtlCol="0">
            <a:spAutoFit/>
          </a:bodyPr>
          <a:lstStyle/>
          <a:p>
            <a:r>
              <a:rPr lang="en-US" sz="3600" dirty="0">
                <a:solidFill>
                  <a:schemeClr val="bg1"/>
                </a:solidFill>
              </a:rPr>
              <a:t>KPI’S ADDRESSED</a:t>
            </a:r>
          </a:p>
        </p:txBody>
      </p:sp>
      <p:sp>
        <p:nvSpPr>
          <p:cNvPr id="3" name="Rectangle 2">
            <a:extLst>
              <a:ext uri="{FF2B5EF4-FFF2-40B4-BE49-F238E27FC236}">
                <a16:creationId xmlns:a16="http://schemas.microsoft.com/office/drawing/2014/main" id="{F08F76D0-16C2-292D-5604-43C6714C89B9}"/>
              </a:ext>
            </a:extLst>
          </p:cNvPr>
          <p:cNvSpPr/>
          <p:nvPr/>
        </p:nvSpPr>
        <p:spPr>
          <a:xfrm>
            <a:off x="3947433" y="-6378"/>
            <a:ext cx="4344373" cy="448909"/>
          </a:xfrm>
          <a:prstGeom prst="rect">
            <a:avLst/>
          </a:prstGeom>
          <a:solidFill>
            <a:srgbClr val="2A7E7C"/>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DF29317D-EFA9-F169-035F-F886D33E7CAB}"/>
              </a:ext>
            </a:extLst>
          </p:cNvPr>
          <p:cNvSpPr txBox="1"/>
          <p:nvPr/>
        </p:nvSpPr>
        <p:spPr>
          <a:xfrm>
            <a:off x="5634523" y="-19134"/>
            <a:ext cx="2940309" cy="461665"/>
          </a:xfrm>
          <a:prstGeom prst="rect">
            <a:avLst/>
          </a:prstGeom>
          <a:noFill/>
        </p:spPr>
        <p:txBody>
          <a:bodyPr wrap="square" rtlCol="0">
            <a:spAutoFit/>
          </a:bodyPr>
          <a:lstStyle/>
          <a:p>
            <a:r>
              <a:rPr lang="en-US" sz="2400" dirty="0">
                <a:solidFill>
                  <a:schemeClr val="bg1"/>
                </a:solidFill>
              </a:rPr>
              <a:t>SQL </a:t>
            </a:r>
            <a:endParaRPr lang="en-IN" sz="2400" dirty="0">
              <a:solidFill>
                <a:schemeClr val="bg1"/>
              </a:solidFill>
            </a:endParaRPr>
          </a:p>
        </p:txBody>
      </p:sp>
      <p:pic>
        <p:nvPicPr>
          <p:cNvPr id="8" name="Picture 7" descr="A computer code with numbers&#10;&#10;AI-generated content may be incorrect.">
            <a:extLst>
              <a:ext uri="{FF2B5EF4-FFF2-40B4-BE49-F238E27FC236}">
                <a16:creationId xmlns:a16="http://schemas.microsoft.com/office/drawing/2014/main" id="{7ECE2BA1-B53A-9832-179D-CF1E675AAF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3829" y="622773"/>
            <a:ext cx="4911232" cy="1971977"/>
          </a:xfrm>
          <a:prstGeom prst="rect">
            <a:avLst/>
          </a:prstGeom>
          <a:ln>
            <a:solidFill>
              <a:srgbClr val="2A7E7C"/>
            </a:solidFill>
          </a:ln>
          <a:effectLst>
            <a:outerShdw blurRad="50800" dist="38100" dir="5400000" algn="t" rotWithShape="0">
              <a:prstClr val="black">
                <a:alpha val="40000"/>
              </a:prstClr>
            </a:outerShdw>
          </a:effectLst>
        </p:spPr>
      </p:pic>
      <p:pic>
        <p:nvPicPr>
          <p:cNvPr id="19" name="Picture 18" descr="A computer code with text&#10;&#10;AI-generated content may be incorrect.">
            <a:extLst>
              <a:ext uri="{FF2B5EF4-FFF2-40B4-BE49-F238E27FC236}">
                <a16:creationId xmlns:a16="http://schemas.microsoft.com/office/drawing/2014/main" id="{B4835094-6536-EC04-ABD2-5194EA08E1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93958" y="628908"/>
            <a:ext cx="5228474" cy="1965842"/>
          </a:xfrm>
          <a:prstGeom prst="rect">
            <a:avLst/>
          </a:prstGeom>
          <a:ln>
            <a:solidFill>
              <a:srgbClr val="2A7E7C"/>
            </a:solidFill>
          </a:ln>
          <a:effectLst>
            <a:outerShdw blurRad="50800" dist="38100" dir="5400000" algn="t" rotWithShape="0">
              <a:prstClr val="black">
                <a:alpha val="40000"/>
              </a:prstClr>
            </a:outerShdw>
          </a:effectLst>
        </p:spPr>
      </p:pic>
      <p:pic>
        <p:nvPicPr>
          <p:cNvPr id="21" name="Picture 20" descr="A computer screen shot of a code&#10;&#10;AI-generated content may be incorrect.">
            <a:extLst>
              <a:ext uri="{FF2B5EF4-FFF2-40B4-BE49-F238E27FC236}">
                <a16:creationId xmlns:a16="http://schemas.microsoft.com/office/drawing/2014/main" id="{F6F00211-3CEB-BD6E-7AAF-2E0042A3663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3828" y="2806143"/>
            <a:ext cx="4911231" cy="1893591"/>
          </a:xfrm>
          <a:prstGeom prst="rect">
            <a:avLst/>
          </a:prstGeom>
          <a:ln>
            <a:solidFill>
              <a:srgbClr val="2A7E7C"/>
            </a:solidFill>
          </a:ln>
          <a:effectLst>
            <a:outerShdw blurRad="50800" dist="38100" dir="5400000" algn="t" rotWithShape="0">
              <a:prstClr val="black">
                <a:alpha val="40000"/>
              </a:prstClr>
            </a:outerShdw>
          </a:effectLst>
        </p:spPr>
      </p:pic>
      <p:pic>
        <p:nvPicPr>
          <p:cNvPr id="23" name="Picture 22" descr="A screen shot of a computer code&#10;&#10;AI-generated content may be incorrect.">
            <a:extLst>
              <a:ext uri="{FF2B5EF4-FFF2-40B4-BE49-F238E27FC236}">
                <a16:creationId xmlns:a16="http://schemas.microsoft.com/office/drawing/2014/main" id="{2A52EC00-4808-2CC6-2DAF-BE032E8FC8A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93957" y="2727757"/>
            <a:ext cx="5228473" cy="1971977"/>
          </a:xfrm>
          <a:prstGeom prst="rect">
            <a:avLst/>
          </a:prstGeom>
          <a:ln>
            <a:solidFill>
              <a:srgbClr val="2A7E7C"/>
            </a:solidFill>
          </a:ln>
          <a:effectLst>
            <a:outerShdw blurRad="50800" dist="38100" dir="5400000" algn="t" rotWithShape="0">
              <a:prstClr val="black">
                <a:alpha val="40000"/>
              </a:prstClr>
            </a:outerShdw>
          </a:effectLst>
        </p:spPr>
      </p:pic>
      <p:pic>
        <p:nvPicPr>
          <p:cNvPr id="25" name="Picture 24" descr="A computer code with text&#10;&#10;AI-generated content may be incorrect.">
            <a:extLst>
              <a:ext uri="{FF2B5EF4-FFF2-40B4-BE49-F238E27FC236}">
                <a16:creationId xmlns:a16="http://schemas.microsoft.com/office/drawing/2014/main" id="{DF2EF609-F6FD-E71E-205A-0296E459BC6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169079" y="4832741"/>
            <a:ext cx="5228473" cy="1860976"/>
          </a:xfrm>
          <a:prstGeom prst="rect">
            <a:avLst/>
          </a:prstGeom>
          <a:ln>
            <a:solidFill>
              <a:srgbClr val="2A7E7C"/>
            </a:solidFill>
          </a:ln>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27794669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10EF1-FEE6-F071-F42F-67DFCFA77F2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0503AAD-4A21-265D-C910-F5A534FDC203}"/>
              </a:ext>
            </a:extLst>
          </p:cNvPr>
          <p:cNvSpPr/>
          <p:nvPr/>
        </p:nvSpPr>
        <p:spPr>
          <a:xfrm>
            <a:off x="54427" y="0"/>
            <a:ext cx="3845769" cy="111967"/>
          </a:xfrm>
          <a:prstGeom prst="rect">
            <a:avLst/>
          </a:prstGeom>
          <a:solidFill>
            <a:srgbClr val="0D3B4F"/>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FE657A23-A561-C356-408D-E794671EC9B4}"/>
              </a:ext>
            </a:extLst>
          </p:cNvPr>
          <p:cNvSpPr/>
          <p:nvPr/>
        </p:nvSpPr>
        <p:spPr>
          <a:xfrm>
            <a:off x="4030824" y="0"/>
            <a:ext cx="4260982" cy="111967"/>
          </a:xfrm>
          <a:prstGeom prst="rect">
            <a:avLst/>
          </a:prstGeom>
          <a:solidFill>
            <a:srgbClr val="2A7E7C"/>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422AA1A4-72E3-19FF-02C5-98AF347BABC0}"/>
              </a:ext>
            </a:extLst>
          </p:cNvPr>
          <p:cNvSpPr/>
          <p:nvPr/>
        </p:nvSpPr>
        <p:spPr>
          <a:xfrm>
            <a:off x="8397552" y="0"/>
            <a:ext cx="3740022" cy="111967"/>
          </a:xfrm>
          <a:prstGeom prst="rect">
            <a:avLst/>
          </a:prstGeom>
          <a:solidFill>
            <a:srgbClr val="0D3B4F"/>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2EDFF913-2C4B-E2EA-A06E-1A742B47FFBC}"/>
              </a:ext>
            </a:extLst>
          </p:cNvPr>
          <p:cNvSpPr/>
          <p:nvPr/>
        </p:nvSpPr>
        <p:spPr>
          <a:xfrm>
            <a:off x="54427" y="163285"/>
            <a:ext cx="12083146" cy="6386805"/>
          </a:xfrm>
          <a:prstGeom prst="rect">
            <a:avLst/>
          </a:prstGeom>
          <a:solidFill>
            <a:srgbClr val="0D3B4F"/>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C956300A-4FE8-DE04-39CD-CE6DDFC6CFCD}"/>
              </a:ext>
            </a:extLst>
          </p:cNvPr>
          <p:cNvSpPr txBox="1"/>
          <p:nvPr/>
        </p:nvSpPr>
        <p:spPr>
          <a:xfrm>
            <a:off x="1296954" y="1813047"/>
            <a:ext cx="8999375" cy="3785652"/>
          </a:xfrm>
          <a:prstGeom prst="rect">
            <a:avLst/>
          </a:prstGeom>
          <a:noFill/>
        </p:spPr>
        <p:txBody>
          <a:bodyPr wrap="square" rtlCol="0">
            <a:spAutoFit/>
          </a:bodyPr>
          <a:lstStyle/>
          <a:p>
            <a:pPr marL="342900" indent="-342900">
              <a:buFont typeface="Arial" panose="020B0604020202020204" pitchFamily="34" charset="0"/>
              <a:buChar char="•"/>
            </a:pPr>
            <a:r>
              <a:rPr lang="en-US" sz="2400" dirty="0">
                <a:solidFill>
                  <a:schemeClr val="bg1"/>
                </a:solidFill>
              </a:rPr>
              <a:t>Loan disbursement increased steadily and peaked around </a:t>
            </a:r>
            <a:r>
              <a:rPr lang="en-US" sz="2400" b="1" dirty="0">
                <a:solidFill>
                  <a:schemeClr val="bg1"/>
                </a:solidFill>
              </a:rPr>
              <a:t>2011</a:t>
            </a:r>
            <a:r>
              <a:rPr lang="en-US" sz="2400" dirty="0">
                <a:solidFill>
                  <a:schemeClr val="bg1"/>
                </a:solidFill>
              </a:rPr>
              <a:t>.</a:t>
            </a:r>
          </a:p>
          <a:p>
            <a:pPr marL="342900" indent="-342900">
              <a:buFont typeface="Arial" panose="020B0604020202020204" pitchFamily="34" charset="0"/>
              <a:buChar char="•"/>
            </a:pPr>
            <a:r>
              <a:rPr lang="en-US" sz="2400" b="1" dirty="0">
                <a:solidFill>
                  <a:schemeClr val="bg1"/>
                </a:solidFill>
              </a:rPr>
              <a:t>Verified customers</a:t>
            </a:r>
            <a:r>
              <a:rPr lang="en-US" sz="2400" dirty="0">
                <a:solidFill>
                  <a:schemeClr val="bg1"/>
                </a:solidFill>
              </a:rPr>
              <a:t> are more reliable in repayments.</a:t>
            </a:r>
          </a:p>
          <a:p>
            <a:pPr marL="342900" indent="-342900">
              <a:buFont typeface="Arial" panose="020B0604020202020204" pitchFamily="34" charset="0"/>
              <a:buChar char="•"/>
            </a:pPr>
            <a:r>
              <a:rPr lang="en-US" sz="2400" b="1" dirty="0">
                <a:solidFill>
                  <a:schemeClr val="bg1"/>
                </a:solidFill>
              </a:rPr>
              <a:t>California</a:t>
            </a:r>
            <a:r>
              <a:rPr lang="en-US" sz="2400" dirty="0">
                <a:solidFill>
                  <a:schemeClr val="bg1"/>
                </a:solidFill>
              </a:rPr>
              <a:t> and </a:t>
            </a:r>
            <a:r>
              <a:rPr lang="en-US" sz="2400" b="1" dirty="0">
                <a:solidFill>
                  <a:schemeClr val="bg1"/>
                </a:solidFill>
              </a:rPr>
              <a:t>Florida</a:t>
            </a:r>
            <a:r>
              <a:rPr lang="en-US" sz="2400" dirty="0">
                <a:solidFill>
                  <a:schemeClr val="bg1"/>
                </a:solidFill>
              </a:rPr>
              <a:t> are the biggest lending regions.</a:t>
            </a:r>
          </a:p>
          <a:p>
            <a:pPr marL="342900" indent="-342900">
              <a:buFont typeface="Arial" panose="020B0604020202020204" pitchFamily="34" charset="0"/>
              <a:buChar char="•"/>
            </a:pPr>
            <a:r>
              <a:rPr lang="en-US" sz="2400" b="1" dirty="0">
                <a:solidFill>
                  <a:schemeClr val="bg1"/>
                </a:solidFill>
              </a:rPr>
              <a:t>Grades B &amp; C</a:t>
            </a:r>
            <a:r>
              <a:rPr lang="en-US" sz="2400" dirty="0">
                <a:solidFill>
                  <a:schemeClr val="bg1"/>
                </a:solidFill>
              </a:rPr>
              <a:t> hold the highest revolving balances → higher active debt.</a:t>
            </a:r>
          </a:p>
          <a:p>
            <a:pPr marL="342900" indent="-342900">
              <a:buFont typeface="Arial" panose="020B0604020202020204" pitchFamily="34" charset="0"/>
              <a:buChar char="•"/>
            </a:pPr>
            <a:r>
              <a:rPr lang="en-US" sz="2400" dirty="0">
                <a:solidFill>
                  <a:schemeClr val="bg1"/>
                </a:solidFill>
              </a:rPr>
              <a:t>Mortgage owners repay more consistently than renters or others.</a:t>
            </a:r>
          </a:p>
          <a:p>
            <a:pPr marL="342900" indent="-342900">
              <a:buFont typeface="Arial" panose="020B0604020202020204" pitchFamily="34" charset="0"/>
              <a:buChar char="•"/>
            </a:pPr>
            <a:r>
              <a:rPr lang="en-US" sz="2400" dirty="0">
                <a:solidFill>
                  <a:schemeClr val="bg1"/>
                </a:solidFill>
              </a:rPr>
              <a:t>Average interest rate is around </a:t>
            </a:r>
            <a:r>
              <a:rPr lang="en-US" sz="2400" b="1" dirty="0">
                <a:solidFill>
                  <a:schemeClr val="bg1"/>
                </a:solidFill>
              </a:rPr>
              <a:t>12%</a:t>
            </a:r>
            <a:r>
              <a:rPr lang="en-US" sz="2400" dirty="0">
                <a:solidFill>
                  <a:schemeClr val="bg1"/>
                </a:solidFill>
              </a:rPr>
              <a:t>, indicating moderate-risk lending.</a:t>
            </a:r>
          </a:p>
          <a:p>
            <a:pPr marL="342900" indent="-342900">
              <a:buFont typeface="Arial" panose="020B0604020202020204" pitchFamily="34" charset="0"/>
              <a:buChar char="•"/>
            </a:pPr>
            <a:r>
              <a:rPr lang="en-US" sz="2400" dirty="0">
                <a:solidFill>
                  <a:schemeClr val="bg1"/>
                </a:solidFill>
              </a:rPr>
              <a:t>Total revolving balance is higher than total loan amount due to </a:t>
            </a:r>
            <a:r>
              <a:rPr lang="en-US" sz="2400" b="1" dirty="0">
                <a:solidFill>
                  <a:schemeClr val="bg1"/>
                </a:solidFill>
              </a:rPr>
              <a:t>ongoing reuse + interest addition</a:t>
            </a:r>
            <a:r>
              <a:rPr lang="en-US" sz="2400" dirty="0">
                <a:solidFill>
                  <a:schemeClr val="bg1"/>
                </a:solidFill>
              </a:rPr>
              <a:t>.</a:t>
            </a:r>
          </a:p>
        </p:txBody>
      </p:sp>
      <p:sp>
        <p:nvSpPr>
          <p:cNvPr id="13" name="TextBox 12">
            <a:extLst>
              <a:ext uri="{FF2B5EF4-FFF2-40B4-BE49-F238E27FC236}">
                <a16:creationId xmlns:a16="http://schemas.microsoft.com/office/drawing/2014/main" id="{C1CB64C7-C18D-F98A-8D57-5E37B8EDA609}"/>
              </a:ext>
            </a:extLst>
          </p:cNvPr>
          <p:cNvSpPr txBox="1"/>
          <p:nvPr/>
        </p:nvSpPr>
        <p:spPr>
          <a:xfrm>
            <a:off x="1296954" y="763688"/>
            <a:ext cx="7501813" cy="769441"/>
          </a:xfrm>
          <a:prstGeom prst="rect">
            <a:avLst/>
          </a:prstGeom>
          <a:noFill/>
        </p:spPr>
        <p:txBody>
          <a:bodyPr wrap="square" rtlCol="0">
            <a:spAutoFit/>
          </a:bodyPr>
          <a:lstStyle/>
          <a:p>
            <a:r>
              <a:rPr lang="en-IN" sz="4400" dirty="0">
                <a:solidFill>
                  <a:schemeClr val="bg1"/>
                </a:solidFill>
                <a:latin typeface="Georgia Pro" panose="02040502050405020303" pitchFamily="18" charset="0"/>
              </a:rPr>
              <a:t>KEY INSIGHTS</a:t>
            </a:r>
          </a:p>
        </p:txBody>
      </p:sp>
    </p:spTree>
    <p:extLst>
      <p:ext uri="{BB962C8B-B14F-4D97-AF65-F5344CB8AC3E}">
        <p14:creationId xmlns:p14="http://schemas.microsoft.com/office/powerpoint/2010/main" val="34908984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FF500-D883-A6FE-3D68-AA1650472C8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912F2B0-5BAB-9611-41F5-6066CD12D2E3}"/>
              </a:ext>
            </a:extLst>
          </p:cNvPr>
          <p:cNvSpPr/>
          <p:nvPr/>
        </p:nvSpPr>
        <p:spPr>
          <a:xfrm>
            <a:off x="54427" y="0"/>
            <a:ext cx="3845769" cy="111967"/>
          </a:xfrm>
          <a:prstGeom prst="rect">
            <a:avLst/>
          </a:prstGeom>
          <a:solidFill>
            <a:srgbClr val="0D3B4F"/>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BF366CCB-88DF-08B0-EE3A-4C3895F0A753}"/>
              </a:ext>
            </a:extLst>
          </p:cNvPr>
          <p:cNvSpPr/>
          <p:nvPr/>
        </p:nvSpPr>
        <p:spPr>
          <a:xfrm>
            <a:off x="4030824" y="0"/>
            <a:ext cx="4260982" cy="111967"/>
          </a:xfrm>
          <a:prstGeom prst="rect">
            <a:avLst/>
          </a:prstGeom>
          <a:solidFill>
            <a:srgbClr val="2A7E7C"/>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8A33A981-6686-4D15-4C3B-A8F4166ED889}"/>
              </a:ext>
            </a:extLst>
          </p:cNvPr>
          <p:cNvSpPr/>
          <p:nvPr/>
        </p:nvSpPr>
        <p:spPr>
          <a:xfrm>
            <a:off x="8397552" y="0"/>
            <a:ext cx="3740022" cy="111967"/>
          </a:xfrm>
          <a:prstGeom prst="rect">
            <a:avLst/>
          </a:prstGeom>
          <a:solidFill>
            <a:srgbClr val="0D3B4F"/>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965B982F-BFD7-BAFA-0754-E86241E8F477}"/>
              </a:ext>
            </a:extLst>
          </p:cNvPr>
          <p:cNvSpPr/>
          <p:nvPr/>
        </p:nvSpPr>
        <p:spPr>
          <a:xfrm>
            <a:off x="54427" y="163285"/>
            <a:ext cx="12083146" cy="6386805"/>
          </a:xfrm>
          <a:prstGeom prst="rect">
            <a:avLst/>
          </a:prstGeom>
          <a:solidFill>
            <a:srgbClr val="0D3B4F"/>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51FD326C-7D17-258E-5AA3-5F75049F58D0}"/>
              </a:ext>
            </a:extLst>
          </p:cNvPr>
          <p:cNvSpPr txBox="1"/>
          <p:nvPr/>
        </p:nvSpPr>
        <p:spPr>
          <a:xfrm>
            <a:off x="1296954" y="1813047"/>
            <a:ext cx="8999375" cy="3046988"/>
          </a:xfrm>
          <a:prstGeom prst="rect">
            <a:avLst/>
          </a:prstGeom>
          <a:noFill/>
        </p:spPr>
        <p:txBody>
          <a:bodyPr wrap="square" rtlCol="0">
            <a:spAutoFit/>
          </a:bodyPr>
          <a:lstStyle/>
          <a:p>
            <a:pPr marL="342900" indent="-342900">
              <a:buFont typeface="Arial" panose="020B0604020202020204" pitchFamily="34" charset="0"/>
              <a:buChar char="•"/>
            </a:pPr>
            <a:r>
              <a:rPr lang="en-US" sz="2400" dirty="0">
                <a:solidFill>
                  <a:schemeClr val="bg1"/>
                </a:solidFill>
              </a:rPr>
              <a:t>Increase focus on verified customers and strengthen verification process.</a:t>
            </a:r>
          </a:p>
          <a:p>
            <a:pPr marL="342900" indent="-342900">
              <a:buFont typeface="Arial" panose="020B0604020202020204" pitchFamily="34" charset="0"/>
              <a:buChar char="•"/>
            </a:pPr>
            <a:r>
              <a:rPr lang="en-US" sz="2400" dirty="0">
                <a:solidFill>
                  <a:schemeClr val="bg1"/>
                </a:solidFill>
              </a:rPr>
              <a:t>Expand marketing efforts in high-performing states like CA, FL.</a:t>
            </a:r>
          </a:p>
          <a:p>
            <a:pPr marL="342900" indent="-342900">
              <a:buFont typeface="Arial" panose="020B0604020202020204" pitchFamily="34" charset="0"/>
              <a:buChar char="•"/>
            </a:pPr>
            <a:r>
              <a:rPr lang="en-US" sz="2400" dirty="0">
                <a:solidFill>
                  <a:schemeClr val="bg1"/>
                </a:solidFill>
              </a:rPr>
              <a:t>Monitor middle-grade (B, C) borrowers for repayment risk.</a:t>
            </a:r>
          </a:p>
          <a:p>
            <a:pPr marL="342900" indent="-342900">
              <a:buFont typeface="Arial" panose="020B0604020202020204" pitchFamily="34" charset="0"/>
              <a:buChar char="•"/>
            </a:pPr>
            <a:r>
              <a:rPr lang="en-US" sz="2400" dirty="0">
                <a:solidFill>
                  <a:schemeClr val="bg1"/>
                </a:solidFill>
              </a:rPr>
              <a:t>Encourage mortgage-backed loans for better repayment stability.</a:t>
            </a:r>
          </a:p>
          <a:p>
            <a:pPr marL="342900" indent="-342900">
              <a:buFont typeface="Arial" panose="020B0604020202020204" pitchFamily="34" charset="0"/>
              <a:buChar char="•"/>
            </a:pPr>
            <a:r>
              <a:rPr lang="en-US" sz="2400" dirty="0">
                <a:solidFill>
                  <a:schemeClr val="bg1"/>
                </a:solidFill>
              </a:rPr>
              <a:t>Provide financial counseling for high revolving balance customers.</a:t>
            </a:r>
          </a:p>
          <a:p>
            <a:pPr marL="342900" indent="-342900">
              <a:buFont typeface="Arial" panose="020B0604020202020204" pitchFamily="34" charset="0"/>
              <a:buChar char="•"/>
            </a:pPr>
            <a:r>
              <a:rPr lang="en-US" sz="2400" dirty="0">
                <a:solidFill>
                  <a:schemeClr val="bg1"/>
                </a:solidFill>
              </a:rPr>
              <a:t>Use dashboards regularly for monthly decision-making reviews.</a:t>
            </a:r>
          </a:p>
        </p:txBody>
      </p:sp>
      <p:sp>
        <p:nvSpPr>
          <p:cNvPr id="13" name="TextBox 12">
            <a:extLst>
              <a:ext uri="{FF2B5EF4-FFF2-40B4-BE49-F238E27FC236}">
                <a16:creationId xmlns:a16="http://schemas.microsoft.com/office/drawing/2014/main" id="{5ECC684B-0AFC-A98E-61B5-F0CDF53B54D6}"/>
              </a:ext>
            </a:extLst>
          </p:cNvPr>
          <p:cNvSpPr txBox="1"/>
          <p:nvPr/>
        </p:nvSpPr>
        <p:spPr>
          <a:xfrm>
            <a:off x="1296954" y="763688"/>
            <a:ext cx="7501813" cy="769441"/>
          </a:xfrm>
          <a:prstGeom prst="rect">
            <a:avLst/>
          </a:prstGeom>
          <a:noFill/>
        </p:spPr>
        <p:txBody>
          <a:bodyPr wrap="square" rtlCol="0">
            <a:spAutoFit/>
          </a:bodyPr>
          <a:lstStyle/>
          <a:p>
            <a:r>
              <a:rPr lang="en-IN" sz="4400" dirty="0">
                <a:solidFill>
                  <a:schemeClr val="bg1"/>
                </a:solidFill>
                <a:latin typeface="Georgia Pro" panose="02040502050405020303" pitchFamily="18" charset="0"/>
              </a:rPr>
              <a:t>RECOMMENDATIONS</a:t>
            </a:r>
          </a:p>
        </p:txBody>
      </p:sp>
    </p:spTree>
    <p:extLst>
      <p:ext uri="{BB962C8B-B14F-4D97-AF65-F5344CB8AC3E}">
        <p14:creationId xmlns:p14="http://schemas.microsoft.com/office/powerpoint/2010/main" val="14060124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33E08-0758-C076-12DC-42FF241BF59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A0F9ECC-385D-E736-DAB9-DFBD7A5F440D}"/>
              </a:ext>
            </a:extLst>
          </p:cNvPr>
          <p:cNvSpPr/>
          <p:nvPr/>
        </p:nvSpPr>
        <p:spPr>
          <a:xfrm>
            <a:off x="54427" y="0"/>
            <a:ext cx="3845769" cy="111967"/>
          </a:xfrm>
          <a:prstGeom prst="rect">
            <a:avLst/>
          </a:prstGeom>
          <a:solidFill>
            <a:srgbClr val="0D3B4F"/>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3BBE5919-7537-484F-D158-510E21BA6DA3}"/>
              </a:ext>
            </a:extLst>
          </p:cNvPr>
          <p:cNvSpPr/>
          <p:nvPr/>
        </p:nvSpPr>
        <p:spPr>
          <a:xfrm>
            <a:off x="4030824" y="0"/>
            <a:ext cx="4260982" cy="111967"/>
          </a:xfrm>
          <a:prstGeom prst="rect">
            <a:avLst/>
          </a:prstGeom>
          <a:solidFill>
            <a:srgbClr val="2A7E7C"/>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CD724066-F4D5-9BAF-6E0D-B3832A8ADD3F}"/>
              </a:ext>
            </a:extLst>
          </p:cNvPr>
          <p:cNvSpPr/>
          <p:nvPr/>
        </p:nvSpPr>
        <p:spPr>
          <a:xfrm>
            <a:off x="8397552" y="0"/>
            <a:ext cx="3740022" cy="111967"/>
          </a:xfrm>
          <a:prstGeom prst="rect">
            <a:avLst/>
          </a:prstGeom>
          <a:solidFill>
            <a:srgbClr val="0D3B4F"/>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EEC2E13A-0764-C877-5608-AAAF62979C7D}"/>
              </a:ext>
            </a:extLst>
          </p:cNvPr>
          <p:cNvSpPr/>
          <p:nvPr/>
        </p:nvSpPr>
        <p:spPr>
          <a:xfrm>
            <a:off x="54427" y="163285"/>
            <a:ext cx="12083146" cy="6386805"/>
          </a:xfrm>
          <a:prstGeom prst="rect">
            <a:avLst/>
          </a:prstGeom>
          <a:solidFill>
            <a:srgbClr val="0D3B4F"/>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0A18BAAD-2CB4-8655-9561-71217C909B20}"/>
              </a:ext>
            </a:extLst>
          </p:cNvPr>
          <p:cNvSpPr txBox="1"/>
          <p:nvPr/>
        </p:nvSpPr>
        <p:spPr>
          <a:xfrm>
            <a:off x="1296954" y="1813047"/>
            <a:ext cx="8999375" cy="3046988"/>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solidFill>
                  <a:schemeClr val="bg1"/>
                </a:solidFill>
              </a:rPr>
              <a:t>This project demonstrates how raw financial data can be converted into powerful insights using Excel, SQL, Power BI, and Tableau.</a:t>
            </a:r>
          </a:p>
          <a:p>
            <a:pPr marL="342900" indent="-342900" algn="just">
              <a:buFont typeface="Arial" panose="020B0604020202020204" pitchFamily="34" charset="0"/>
              <a:buChar char="•"/>
            </a:pPr>
            <a:r>
              <a:rPr lang="en-US" sz="2400" dirty="0">
                <a:solidFill>
                  <a:schemeClr val="bg1"/>
                </a:solidFill>
              </a:rPr>
              <a:t>Through </a:t>
            </a:r>
            <a:r>
              <a:rPr lang="en-US" sz="2400" dirty="0" err="1">
                <a:solidFill>
                  <a:schemeClr val="bg1"/>
                </a:solidFill>
              </a:rPr>
              <a:t>ata</a:t>
            </a:r>
            <a:r>
              <a:rPr lang="en-US" sz="2400" dirty="0">
                <a:solidFill>
                  <a:schemeClr val="bg1"/>
                </a:solidFill>
              </a:rPr>
              <a:t> cleaning, transformation, KPI extraction, and interactive dashboarding, we gained a clear understanding of loan behavior, customer trends, and risk patterns.</a:t>
            </a:r>
          </a:p>
          <a:p>
            <a:pPr marL="342900" indent="-342900" algn="just">
              <a:buFont typeface="Arial" panose="020B0604020202020204" pitchFamily="34" charset="0"/>
              <a:buChar char="•"/>
            </a:pPr>
            <a:r>
              <a:rPr lang="en-US" sz="2400" dirty="0">
                <a:solidFill>
                  <a:schemeClr val="bg1"/>
                </a:solidFill>
              </a:rPr>
              <a:t>These insights can help banking teams make data-driven decisions and improve their lending strategies.</a:t>
            </a:r>
          </a:p>
        </p:txBody>
      </p:sp>
      <p:sp>
        <p:nvSpPr>
          <p:cNvPr id="13" name="TextBox 12">
            <a:extLst>
              <a:ext uri="{FF2B5EF4-FFF2-40B4-BE49-F238E27FC236}">
                <a16:creationId xmlns:a16="http://schemas.microsoft.com/office/drawing/2014/main" id="{B284E271-7E90-28C6-3F9E-EB26DE7A788C}"/>
              </a:ext>
            </a:extLst>
          </p:cNvPr>
          <p:cNvSpPr txBox="1"/>
          <p:nvPr/>
        </p:nvSpPr>
        <p:spPr>
          <a:xfrm>
            <a:off x="1296954" y="763688"/>
            <a:ext cx="7501813" cy="1446550"/>
          </a:xfrm>
          <a:prstGeom prst="rect">
            <a:avLst/>
          </a:prstGeom>
          <a:noFill/>
        </p:spPr>
        <p:txBody>
          <a:bodyPr wrap="square" rtlCol="0">
            <a:spAutoFit/>
          </a:bodyPr>
          <a:lstStyle/>
          <a:p>
            <a:r>
              <a:rPr lang="en-US" sz="4400" dirty="0">
                <a:solidFill>
                  <a:schemeClr val="bg1"/>
                </a:solidFill>
                <a:latin typeface="Georgia" panose="02040502050405020303" pitchFamily="18" charset="0"/>
              </a:rPr>
              <a:t>CONCLUSION</a:t>
            </a:r>
            <a:endParaRPr lang="en-IN" sz="4400" dirty="0">
              <a:solidFill>
                <a:schemeClr val="bg1"/>
              </a:solidFill>
              <a:latin typeface="Georgia" panose="02040502050405020303" pitchFamily="18" charset="0"/>
            </a:endParaRPr>
          </a:p>
          <a:p>
            <a:endParaRPr lang="en-IN" sz="4400" dirty="0">
              <a:solidFill>
                <a:schemeClr val="bg1"/>
              </a:solidFill>
              <a:latin typeface="Georgia Pro" panose="02040502050405020303" pitchFamily="18" charset="0"/>
            </a:endParaRPr>
          </a:p>
        </p:txBody>
      </p:sp>
    </p:spTree>
    <p:extLst>
      <p:ext uri="{BB962C8B-B14F-4D97-AF65-F5344CB8AC3E}">
        <p14:creationId xmlns:p14="http://schemas.microsoft.com/office/powerpoint/2010/main" val="36737468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5AAA963-F195-5824-540A-93D8B09A6E84}"/>
              </a:ext>
            </a:extLst>
          </p:cNvPr>
          <p:cNvSpPr/>
          <p:nvPr/>
        </p:nvSpPr>
        <p:spPr>
          <a:xfrm>
            <a:off x="54427" y="0"/>
            <a:ext cx="3845769" cy="111967"/>
          </a:xfrm>
          <a:prstGeom prst="rect">
            <a:avLst/>
          </a:prstGeom>
          <a:solidFill>
            <a:srgbClr val="0D3B4F"/>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C4D207DB-E649-7D81-5EA8-907EB5166A56}"/>
              </a:ext>
            </a:extLst>
          </p:cNvPr>
          <p:cNvSpPr/>
          <p:nvPr/>
        </p:nvSpPr>
        <p:spPr>
          <a:xfrm>
            <a:off x="8397552" y="0"/>
            <a:ext cx="3740022" cy="111967"/>
          </a:xfrm>
          <a:prstGeom prst="rect">
            <a:avLst/>
          </a:prstGeom>
          <a:solidFill>
            <a:srgbClr val="0D3B4F"/>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6DC5E2A7-DC69-84BB-5605-C4E8AD6B4B6C}"/>
              </a:ext>
            </a:extLst>
          </p:cNvPr>
          <p:cNvSpPr txBox="1"/>
          <p:nvPr/>
        </p:nvSpPr>
        <p:spPr>
          <a:xfrm>
            <a:off x="634483" y="2044006"/>
            <a:ext cx="2864498" cy="1200329"/>
          </a:xfrm>
          <a:prstGeom prst="rect">
            <a:avLst/>
          </a:prstGeom>
          <a:noFill/>
        </p:spPr>
        <p:txBody>
          <a:bodyPr wrap="square" rtlCol="0">
            <a:spAutoFit/>
          </a:bodyPr>
          <a:lstStyle/>
          <a:p>
            <a:r>
              <a:rPr lang="en-US" sz="3600" dirty="0">
                <a:solidFill>
                  <a:schemeClr val="bg1"/>
                </a:solidFill>
              </a:rPr>
              <a:t>KPI’S ADDRESSED</a:t>
            </a:r>
          </a:p>
        </p:txBody>
      </p:sp>
      <p:sp>
        <p:nvSpPr>
          <p:cNvPr id="3" name="Rectangle 2">
            <a:extLst>
              <a:ext uri="{FF2B5EF4-FFF2-40B4-BE49-F238E27FC236}">
                <a16:creationId xmlns:a16="http://schemas.microsoft.com/office/drawing/2014/main" id="{F08F76D0-16C2-292D-5604-43C6714C89B9}"/>
              </a:ext>
            </a:extLst>
          </p:cNvPr>
          <p:cNvSpPr/>
          <p:nvPr/>
        </p:nvSpPr>
        <p:spPr>
          <a:xfrm>
            <a:off x="3947433" y="-6378"/>
            <a:ext cx="4395693" cy="118345"/>
          </a:xfrm>
          <a:prstGeom prst="rect">
            <a:avLst/>
          </a:prstGeom>
          <a:solidFill>
            <a:srgbClr val="2A7E7C"/>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6C1101A2-D237-7DDE-069E-68498D7EA874}"/>
              </a:ext>
            </a:extLst>
          </p:cNvPr>
          <p:cNvSpPr txBox="1"/>
          <p:nvPr/>
        </p:nvSpPr>
        <p:spPr>
          <a:xfrm>
            <a:off x="3688314" y="2124144"/>
            <a:ext cx="4498129" cy="1446550"/>
          </a:xfrm>
          <a:prstGeom prst="rect">
            <a:avLst/>
          </a:prstGeom>
          <a:noFill/>
        </p:spPr>
        <p:txBody>
          <a:bodyPr wrap="square" rtlCol="0">
            <a:spAutoFit/>
          </a:bodyPr>
          <a:lstStyle/>
          <a:p>
            <a:r>
              <a:rPr lang="en-US" sz="8800" dirty="0">
                <a:solidFill>
                  <a:srgbClr val="102D48"/>
                </a:solidFill>
                <a:latin typeface="Script MT Bold" panose="03040602040607080904" pitchFamily="66" charset="0"/>
              </a:rPr>
              <a:t>Thank</a:t>
            </a:r>
            <a:endParaRPr lang="en-IN" sz="8800" dirty="0">
              <a:solidFill>
                <a:srgbClr val="102D48"/>
              </a:solidFill>
              <a:latin typeface="Script MT Bold" panose="03040602040607080904" pitchFamily="66" charset="0"/>
            </a:endParaRPr>
          </a:p>
        </p:txBody>
      </p:sp>
      <p:sp>
        <p:nvSpPr>
          <p:cNvPr id="9" name="TextBox 8">
            <a:extLst>
              <a:ext uri="{FF2B5EF4-FFF2-40B4-BE49-F238E27FC236}">
                <a16:creationId xmlns:a16="http://schemas.microsoft.com/office/drawing/2014/main" id="{EA8CE975-08C3-E4B7-F231-776D436BFC91}"/>
              </a:ext>
            </a:extLst>
          </p:cNvPr>
          <p:cNvSpPr txBox="1"/>
          <p:nvPr/>
        </p:nvSpPr>
        <p:spPr>
          <a:xfrm>
            <a:off x="5937379" y="3244335"/>
            <a:ext cx="3752072" cy="1446550"/>
          </a:xfrm>
          <a:prstGeom prst="rect">
            <a:avLst/>
          </a:prstGeom>
          <a:noFill/>
        </p:spPr>
        <p:txBody>
          <a:bodyPr wrap="square" rtlCol="0">
            <a:spAutoFit/>
          </a:bodyPr>
          <a:lstStyle/>
          <a:p>
            <a:r>
              <a:rPr lang="en-US" sz="8800" dirty="0">
                <a:solidFill>
                  <a:srgbClr val="102D48"/>
                </a:solidFill>
                <a:latin typeface="Script MT Bold" panose="03040602040607080904" pitchFamily="66" charset="0"/>
              </a:rPr>
              <a:t>you</a:t>
            </a:r>
            <a:endParaRPr lang="en-IN" sz="8800" dirty="0">
              <a:solidFill>
                <a:srgbClr val="102D48"/>
              </a:solidFill>
              <a:latin typeface="Script MT Bold" panose="03040602040607080904" pitchFamily="66" charset="0"/>
            </a:endParaRPr>
          </a:p>
        </p:txBody>
      </p:sp>
    </p:spTree>
    <p:extLst>
      <p:ext uri="{BB962C8B-B14F-4D97-AF65-F5344CB8AC3E}">
        <p14:creationId xmlns:p14="http://schemas.microsoft.com/office/powerpoint/2010/main" val="19820771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339</TotalTime>
  <Words>649</Words>
  <Application>Microsoft Office PowerPoint</Application>
  <PresentationFormat>Widescreen</PresentationFormat>
  <Paragraphs>90</Paragraphs>
  <Slides>16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Aptos</vt:lpstr>
      <vt:lpstr>Aptos Display</vt:lpstr>
      <vt:lpstr>Arial</vt:lpstr>
      <vt:lpstr>Arial Black</vt:lpstr>
      <vt:lpstr>Franklin Gothic Heavy</vt:lpstr>
      <vt:lpstr>Georgia</vt:lpstr>
      <vt:lpstr>Georgia Pro</vt:lpstr>
      <vt:lpstr>Script MT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Vaishnavi Bhise</dc:creator>
  <cp:lastModifiedBy>Shashank A U</cp:lastModifiedBy>
  <cp:revision>9</cp:revision>
  <dcterms:created xsi:type="dcterms:W3CDTF">2025-11-30T14:14:57Z</dcterms:created>
  <dcterms:modified xsi:type="dcterms:W3CDTF">2025-12-29T14:57:46Z</dcterms:modified>
</cp:coreProperties>
</file>